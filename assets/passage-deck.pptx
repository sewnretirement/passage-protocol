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RWA on-chain value ($B)</c:v>
                </c:pt>
              </c:strCache>
            </c:strRef>
          </c:tx>
          <c:spPr>
            <a:solidFill>
              <a:srgbClr val="00FFA3"/>
            </a:solidFill>
            <a:ln w="38100" cap="flat">
              <a:solidFill>
                <a:srgbClr val="00FFA3"/>
              </a:solidFill>
              <a:prstDash val="solid"/>
              <a:round/>
            </a:ln>
            <a:effectLst/>
          </c:spPr>
          <c:invertIfNegative val="0"/>
          <c:dLbls>
            <c:numFmt formatCode="0.#" sourceLinked="0"/>
            <c:txPr>
              <a:bodyPr/>
              <a:lstStyle/>
              <a:p>
                <a:pPr>
                  <a:defRPr b="0" i="0" strike="noStrike" sz="1000" u="none">
                    <a:solidFill>
                      <a:srgbClr val="7DA395"/>
                    </a:solidFill>
                    <a:latin typeface="Arial"/>
                  </a:defRPr>
                </a:pPr>
              </a:p>
            </c:txPr>
            <c:dLblPos val="t"/>
            <c:showLegendKey val="0"/>
            <c:showVal val="1"/>
            <c:showCatName val="0"/>
            <c:showSerName val="0"/>
            <c:showPercent val="0"/>
            <c:showBubbleSize val="0"/>
            <c:showLeaderLines val="0"/>
          </c:dLbls>
          <c:marker>
            <c:symbol val="circle"/>
            <c:size val="6"/>
            <c:spPr>
              <a:solidFill>
                <a:srgbClr val="00FFA3"/>
              </a:solidFill>
              <a:ln w="9525" cap="flat">
                <a:solidFill>
                  <a:srgbClr val="00FFA3"/>
                </a:solidFill>
                <a:prstDash val="solid"/>
                <a:round/>
              </a:ln>
              <a:effectLst/>
            </c:spPr>
          </c:marker>
          <c:cat>
            <c:multiLvlStrRef>
              <c:f>Sheet1!$A$2:$A$8</c:f>
              <c:multiLvlStrCache>
                <c:ptCount val="7"/>
                <c:lvl>
                  <c:pt idx="0">
                    <c:v>2022</c:v>
                  </c:pt>
                  <c:pt idx="1">
                    <c:v>2023</c:v>
                  </c:pt>
                  <c:pt idx="2">
                    <c:v>2024</c:v>
                  </c:pt>
                  <c:pt idx="3">
                    <c:v>2025</c:v>
                  </c:pt>
                  <c:pt idx="4">
                    <c:v>2026</c:v>
                  </c:pt>
                  <c:pt idx="5">
                    <c:v>2027E</c:v>
                  </c:pt>
                  <c:pt idx="6">
                    <c:v>2028E</c:v>
                  </c:pt>
                </c:lvl>
              </c:multiLvlStrCache>
            </c:multiLvlStrRef>
          </c:cat>
          <c:val>
            <c:numRef>
              <c:f>Sheet1!$B$2:$B$8</c:f>
              <c:numCache>
                <c:formatCode>General</c:formatCode>
                <c:ptCount val="7"/>
                <c:pt idx="0">
                  <c:v>1.5</c:v>
                </c:pt>
                <c:pt idx="1">
                  <c:v>5</c:v>
                </c:pt>
                <c:pt idx="2">
                  <c:v>12</c:v>
                </c:pt>
                <c:pt idx="3">
                  <c:v>22</c:v>
                </c:pt>
                <c:pt idx="4">
                  <c:v>30</c:v>
                </c:pt>
                <c:pt idx="5">
                  <c:v>55</c:v>
                </c:pt>
                <c:pt idx="6">
                  <c:v>100</c:v>
                </c:pt>
              </c:numCache>
            </c:numRef>
          </c:val>
          <c:smooth val="1"/>
        </c:ser>
        <c:dLbls>
          <c:numFmt formatCode="0.#" sourceLinked="0"/>
          <c:txPr>
            <a:bodyPr/>
            <a:lstStyle/>
            <a:p>
              <a:pPr>
                <a:defRPr b="0" i="0" strike="noStrike" sz="1000" u="none">
                  <a:solidFill>
                    <a:srgbClr val="7DA395"/>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7DA39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1C322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DA395"/>
                </a:solidFill>
                <a:latin typeface="Arial"/>
              </a:defRPr>
            </a:pPr>
            <a:endParaRPr lang="en-US"/>
          </a:p>
        </c:txPr>
        <c:crossAx val="2094734554"/>
        <c:crosses val="autoZero"/>
        <c:crossBetween val="between"/>
      </c:valAx>
      <c:spPr>
        <a:solidFill>
          <a:srgbClr val="060B09"/>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Annual protocol revenue ($M)</c:v>
                </c:pt>
              </c:strCache>
            </c:strRef>
          </c:tx>
          <c:spPr>
            <a:solidFill>
              <a:srgbClr val="00FFA3"/>
            </a:solidFill>
            <a:effectLst/>
          </c:spPr>
          <c:invertIfNegative val="0"/>
          <c:dLbls>
            <c:numFmt formatCode="0.00" sourceLinked="0"/>
            <c:txPr>
              <a:bodyPr/>
              <a:lstStyle/>
              <a:p>
                <a:pPr>
                  <a:defRPr b="0" i="0" strike="noStrike" sz="1100" u="none">
                    <a:solidFill>
                      <a:srgbClr val="EAFFF6"/>
                    </a:solidFill>
                    <a:latin typeface="Arial"/>
                  </a:defRPr>
                </a:pPr>
              </a:p>
            </c:txPr>
            <c:showLegendKey val="0"/>
            <c:showVal val="1"/>
            <c:showCatName val="0"/>
            <c:showSerName val="0"/>
            <c:showPercent val="0"/>
            <c:showBubbleSize val="0"/>
            <c:showLeaderLines val="0"/>
          </c:dLbls>
          <c:cat>
            <c:multiLvlStrRef>
              <c:f>Sheet1!$A$2:$A$4</c:f>
              <c:multiLvlStrCache>
                <c:ptCount val="3"/>
                <c:lvl>
                  <c:pt idx="0">
                    <c:v>$100M wrapped</c:v>
                  </c:pt>
                  <c:pt idx="1">
                    <c:v>$500M wrapped</c:v>
                  </c:pt>
                  <c:pt idx="2">
                    <c:v>$2B wrapped</c:v>
                  </c:pt>
                </c:lvl>
              </c:multiLvlStrCache>
            </c:multiLvlStrRef>
          </c:cat>
          <c:val>
            <c:numRef>
              <c:f>Sheet1!$B$2:$B$4</c:f>
              <c:numCache>
                <c:formatCode>General</c:formatCode>
                <c:ptCount val="3"/>
                <c:pt idx="0">
                  <c:v>0.18</c:v>
                </c:pt>
                <c:pt idx="1">
                  <c:v>0.9</c:v>
                </c:pt>
                <c:pt idx="2">
                  <c:v>3.6</c:v>
                </c:pt>
              </c:numCache>
            </c:numRef>
          </c:val>
        </c:ser>
        <c:dLbls>
          <c:numFmt formatCode="0.00" sourceLinked="0"/>
          <c:txPr>
            <a:bodyPr/>
            <a:lstStyle/>
            <a:p>
              <a:pPr>
                <a:defRPr b="0" i="0" strike="noStrike" sz="1100" u="none">
                  <a:solidFill>
                    <a:srgbClr val="EAFFF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7DA395"/>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7DA39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Monthly budget ($k)</c:v>
                </c:pt>
              </c:strCache>
            </c:strRef>
          </c:tx>
          <c:spPr>
            <a:solidFill>
              <a:srgbClr val="00FFA3"/>
            </a:solidFill>
            <a:effectLst/>
          </c:spPr>
          <c:invertIfNegative val="0"/>
          <c:dLbls>
            <c:numFmt formatCode="0.#" sourceLinked="0"/>
            <c:txPr>
              <a:bodyPr/>
              <a:lstStyle/>
              <a:p>
                <a:pPr>
                  <a:defRPr b="0" i="0" strike="noStrike" sz="1000" u="none">
                    <a:solidFill>
                      <a:srgbClr val="EAFFF6"/>
                    </a:solidFill>
                    <a:latin typeface="Arial"/>
                  </a:defRPr>
                </a:pPr>
              </a:p>
            </c:txPr>
            <c:showLegendKey val="0"/>
            <c:showVal val="1"/>
            <c:showCatName val="0"/>
            <c:showSerName val="0"/>
            <c:showPercent val="0"/>
            <c:showBubbleSize val="0"/>
            <c:showLeaderLines val="0"/>
          </c:dLbls>
          <c:cat>
            <c:multiLvlStrRef>
              <c:f>Sheet1!$A$2:$A$9</c:f>
              <c:multiLvlStrCache>
                <c:ptCount val="8"/>
                <c:lvl>
                  <c:pt idx="0">
                    <c:v>Founder</c:v>
                  </c:pt>
                  <c:pt idx="1">
                    <c:v>2nd developer</c:v>
                  </c:pt>
                  <c:pt idx="2">
                    <c:v>Advisors (2x)</c:v>
                  </c:pt>
                  <c:pt idx="3">
                    <c:v>Marketing &amp; community</c:v>
                  </c:pt>
                  <c:pt idx="4">
                    <c:v>Infra &amp; tooling</c:v>
                  </c:pt>
                  <c:pt idx="5">
                    <c:v>KYC provider</c:v>
                  </c:pt>
                  <c:pt idx="6">
                    <c:v>Admin &amp; entity</c:v>
                  </c:pt>
                  <c:pt idx="7">
                    <c:v>Contingency</c:v>
                  </c:pt>
                </c:lvl>
              </c:multiLvlStrCache>
            </c:multiLvlStrRef>
          </c:cat>
          <c:val>
            <c:numRef>
              <c:f>Sheet1!$B$2:$B$9</c:f>
              <c:numCache>
                <c:formatCode>General</c:formatCode>
                <c:ptCount val="8"/>
                <c:pt idx="0">
                  <c:v>16</c:v>
                </c:pt>
                <c:pt idx="1">
                  <c:v>10</c:v>
                </c:pt>
                <c:pt idx="2">
                  <c:v>10</c:v>
                </c:pt>
                <c:pt idx="3">
                  <c:v>8</c:v>
                </c:pt>
                <c:pt idx="4">
                  <c:v>1.5</c:v>
                </c:pt>
                <c:pt idx="5">
                  <c:v>1</c:v>
                </c:pt>
                <c:pt idx="6">
                  <c:v>1.5</c:v>
                </c:pt>
                <c:pt idx="7">
                  <c:v>2</c:v>
                </c:pt>
              </c:numCache>
            </c:numRef>
          </c:val>
        </c:ser>
        <c:dLbls>
          <c:numFmt formatCode="0.#" sourceLinked="0"/>
          <c:txPr>
            <a:bodyPr/>
            <a:lstStyle/>
            <a:p>
              <a:pPr>
                <a:defRPr b="0" i="0" strike="noStrike" sz="1000" u="none">
                  <a:solidFill>
                    <a:srgbClr val="EAFFF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7DA395"/>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0B09"/>
        </a:solidFill>
      </p:bgPr>
    </p:bg>
    <p:spTree>
      <p:nvGrpSpPr>
        <p:cNvPr id="1" name=""/>
        <p:cNvGrpSpPr/>
        <p:nvPr/>
      </p:nvGrpSpPr>
      <p:grpSpPr>
        <a:xfrm>
          <a:off x="0" y="0"/>
          <a:ext cx="0" cy="0"/>
          <a:chOff x="0" y="0"/>
          <a:chExt cx="0" cy="0"/>
        </a:xfrm>
      </p:grpSpPr>
      <p:sp>
        <p:nvSpPr>
          <p:cNvPr id="2" name="Shape 0"/>
          <p:cNvSpPr/>
          <p:nvPr/>
        </p:nvSpPr>
        <p:spPr>
          <a:xfrm>
            <a:off x="4480560" y="-2377440"/>
            <a:ext cx="3291840" cy="3291840"/>
          </a:xfrm>
          <a:prstGeom prst="ellipse">
            <a:avLst/>
          </a:prstGeom>
          <a:solidFill>
            <a:srgbClr val="0D2A1E">
              <a:alpha val="80000"/>
            </a:srgbClr>
          </a:solidFill>
          <a:ln/>
        </p:spPr>
      </p:sp>
      <p:sp>
        <p:nvSpPr>
          <p:cNvPr id="3" name="Shape 1"/>
          <p:cNvSpPr/>
          <p:nvPr/>
        </p:nvSpPr>
        <p:spPr>
          <a:xfrm>
            <a:off x="5715000" y="1417320"/>
            <a:ext cx="115214" cy="793699"/>
          </a:xfrm>
          <a:prstGeom prst="roundRect">
            <a:avLst>
              <a:gd name="adj" fmla="val 44445"/>
            </a:avLst>
          </a:prstGeom>
          <a:solidFill>
            <a:srgbClr val="00FFA3"/>
          </a:solidFill>
          <a:ln/>
        </p:spPr>
      </p:sp>
      <p:sp>
        <p:nvSpPr>
          <p:cNvPr id="4" name="Shape 2"/>
          <p:cNvSpPr/>
          <p:nvPr/>
        </p:nvSpPr>
        <p:spPr>
          <a:xfrm>
            <a:off x="6252667" y="1417320"/>
            <a:ext cx="115214" cy="793699"/>
          </a:xfrm>
          <a:prstGeom prst="roundRect">
            <a:avLst>
              <a:gd name="adj" fmla="val 44445"/>
            </a:avLst>
          </a:prstGeom>
          <a:solidFill>
            <a:srgbClr val="00FFA3"/>
          </a:solidFill>
          <a:ln/>
        </p:spPr>
      </p:sp>
      <p:sp>
        <p:nvSpPr>
          <p:cNvPr id="5" name="Shape 3"/>
          <p:cNvSpPr/>
          <p:nvPr/>
        </p:nvSpPr>
        <p:spPr>
          <a:xfrm>
            <a:off x="5586984" y="1775765"/>
            <a:ext cx="921715" cy="0"/>
          </a:xfrm>
          <a:prstGeom prst="line">
            <a:avLst/>
          </a:prstGeom>
          <a:noFill/>
          <a:ln w="53340">
            <a:solidFill>
              <a:srgbClr val="00FFA3"/>
            </a:solidFill>
            <a:prstDash val="solid"/>
          </a:ln>
        </p:spPr>
      </p:sp>
      <p:sp>
        <p:nvSpPr>
          <p:cNvPr id="6" name="Text 4"/>
          <p:cNvSpPr/>
          <p:nvPr/>
        </p:nvSpPr>
        <p:spPr>
          <a:xfrm>
            <a:off x="0" y="2377440"/>
            <a:ext cx="12188952" cy="914400"/>
          </a:xfrm>
          <a:prstGeom prst="rect">
            <a:avLst/>
          </a:prstGeom>
          <a:noFill/>
          <a:ln/>
        </p:spPr>
        <p:txBody>
          <a:bodyPr wrap="square" lIns="0" tIns="0" rIns="0" bIns="0" rtlCol="0" anchor="ctr"/>
          <a:lstStyle/>
          <a:p>
            <a:pPr algn="ctr" indent="0" marL="0">
              <a:buNone/>
            </a:pPr>
            <a:r>
              <a:rPr lang="en-US" sz="5400" b="1" dirty="0">
                <a:solidFill>
                  <a:srgbClr val="EAFFF6"/>
                </a:solidFill>
                <a:latin typeface="Calibri" pitchFamily="34" charset="0"/>
                <a:ea typeface="Calibri" pitchFamily="34" charset="-122"/>
                <a:cs typeface="Calibri" pitchFamily="34" charset="-120"/>
              </a:rPr>
              <a:t>passage</a:t>
            </a:r>
            <a:pPr algn="ctr" indent="0" marL="0">
              <a:buNone/>
            </a:pPr>
            <a:r>
              <a:rPr lang="en-US" sz="5400" b="1" dirty="0">
                <a:solidFill>
                  <a:srgbClr val="00FFA3"/>
                </a:solidFill>
                <a:latin typeface="Calibri" pitchFamily="34" charset="0"/>
                <a:ea typeface="Calibri" pitchFamily="34" charset="-122"/>
                <a:cs typeface="Calibri" pitchFamily="34" charset="-120"/>
              </a:rPr>
              <a:t>.</a:t>
            </a:r>
            <a:endParaRPr lang="en-US" sz="5400" dirty="0"/>
          </a:p>
        </p:txBody>
      </p:sp>
      <p:sp>
        <p:nvSpPr>
          <p:cNvPr id="7" name="Text 5"/>
          <p:cNvSpPr/>
          <p:nvPr/>
        </p:nvSpPr>
        <p:spPr>
          <a:xfrm>
            <a:off x="0" y="3291840"/>
            <a:ext cx="12188952" cy="457200"/>
          </a:xfrm>
          <a:prstGeom prst="rect">
            <a:avLst/>
          </a:prstGeom>
          <a:noFill/>
          <a:ln/>
        </p:spPr>
        <p:txBody>
          <a:bodyPr wrap="square" lIns="0" tIns="0" rIns="0" bIns="0" rtlCol="0" anchor="ctr"/>
          <a:lstStyle/>
          <a:p>
            <a:pPr algn="ctr" indent="0" marL="0">
              <a:buNone/>
            </a:pPr>
            <a:r>
              <a:rPr lang="en-US" sz="1800" dirty="0">
                <a:solidFill>
                  <a:srgbClr val="7DA395"/>
                </a:solidFill>
                <a:latin typeface="Calibri" pitchFamily="34" charset="0"/>
                <a:ea typeface="Calibri" pitchFamily="34" charset="-122"/>
                <a:cs typeface="Calibri" pitchFamily="34" charset="-120"/>
              </a:rPr>
              <a:t>The compliance bridge that makes real-world assets DeFi-composable</a:t>
            </a:r>
            <a:endParaRPr lang="en-US" sz="1800" dirty="0"/>
          </a:p>
        </p:txBody>
      </p:sp>
      <p:sp>
        <p:nvSpPr>
          <p:cNvPr id="8" name="Text 6"/>
          <p:cNvSpPr/>
          <p:nvPr/>
        </p:nvSpPr>
        <p:spPr>
          <a:xfrm>
            <a:off x="0" y="3977640"/>
            <a:ext cx="12188952" cy="365760"/>
          </a:xfrm>
          <a:prstGeom prst="rect">
            <a:avLst/>
          </a:prstGeom>
          <a:noFill/>
          <a:ln/>
        </p:spPr>
        <p:txBody>
          <a:bodyPr wrap="square" lIns="0" tIns="0" rIns="0" bIns="0" rtlCol="0" anchor="ctr"/>
          <a:lstStyle/>
          <a:p>
            <a:pPr algn="ctr" indent="0" marL="0">
              <a:buNone/>
            </a:pPr>
            <a:r>
              <a:rPr lang="en-US" sz="1200" spc="200" kern="0" dirty="0">
                <a:solidFill>
                  <a:srgbClr val="00FFA3"/>
                </a:solidFill>
                <a:latin typeface="Calibri" pitchFamily="34" charset="0"/>
                <a:ea typeface="Calibri" pitchFamily="34" charset="-122"/>
                <a:cs typeface="Calibri" pitchFamily="34" charset="-120"/>
              </a:rPr>
              <a:t>SOLANA</a:t>
            </a:r>
            <a:pPr algn="ctr" indent="0" marL="0">
              <a:buNone/>
            </a:pPr>
            <a:r>
              <a:rPr lang="en-US" sz="1200" spc="200" kern="0" dirty="0">
                <a:solidFill>
                  <a:srgbClr val="7DA395"/>
                </a:solidFill>
                <a:latin typeface="Calibri" pitchFamily="34" charset="0"/>
                <a:ea typeface="Calibri" pitchFamily="34" charset="-122"/>
                <a:cs typeface="Calibri" pitchFamily="34" charset="-120"/>
              </a:rPr>
              <a:t>   ·   </a:t>
            </a:r>
            <a:pPr algn="ctr" indent="0" marL="0">
              <a:buNone/>
            </a:pPr>
            <a:r>
              <a:rPr lang="en-US" sz="1200" spc="200" kern="0" dirty="0">
                <a:solidFill>
                  <a:srgbClr val="00FFA3"/>
                </a:solidFill>
                <a:latin typeface="Calibri" pitchFamily="34" charset="0"/>
                <a:ea typeface="Calibri" pitchFamily="34" charset="-122"/>
                <a:cs typeface="Calibri" pitchFamily="34" charset="-120"/>
              </a:rPr>
              <a:t>TOKEN-2022 TRANSFER HOOKS</a:t>
            </a:r>
            <a:pPr algn="ctr" indent="0" marL="0">
              <a:buNone/>
            </a:pPr>
            <a:r>
              <a:rPr lang="en-US" sz="1200" spc="200" kern="0" dirty="0">
                <a:solidFill>
                  <a:srgbClr val="7DA395"/>
                </a:solidFill>
                <a:latin typeface="Calibri" pitchFamily="34" charset="0"/>
                <a:ea typeface="Calibri" pitchFamily="34" charset="-122"/>
                <a:cs typeface="Calibri" pitchFamily="34" charset="-120"/>
              </a:rPr>
              <a:t>   ·   </a:t>
            </a:r>
            <a:pPr algn="ctr" indent="0" marL="0">
              <a:buNone/>
            </a:pPr>
            <a:r>
              <a:rPr lang="en-US" sz="1200" spc="200" kern="0" dirty="0">
                <a:solidFill>
                  <a:srgbClr val="00FFA3"/>
                </a:solidFill>
                <a:latin typeface="Calibri" pitchFamily="34" charset="0"/>
                <a:ea typeface="Calibri" pitchFamily="34" charset="-122"/>
                <a:cs typeface="Calibri" pitchFamily="34" charset="-120"/>
              </a:rPr>
              <a:t>REAL YIELD</a:t>
            </a:r>
            <a:endParaRPr lang="en-US" sz="1200" dirty="0"/>
          </a:p>
        </p:txBody>
      </p:sp>
      <p:sp>
        <p:nvSpPr>
          <p:cNvPr id="9" name="Text 7"/>
          <p:cNvSpPr/>
          <p:nvPr/>
        </p:nvSpPr>
        <p:spPr>
          <a:xfrm>
            <a:off x="0" y="6126480"/>
            <a:ext cx="12188952" cy="365760"/>
          </a:xfrm>
          <a:prstGeom prst="rect">
            <a:avLst/>
          </a:prstGeom>
          <a:noFill/>
          <a:ln/>
        </p:spPr>
        <p:txBody>
          <a:bodyPr wrap="square" lIns="0" tIns="0" rIns="0" bIns="0" rtlCol="0" anchor="ctr"/>
          <a:lstStyle/>
          <a:p>
            <a:pPr algn="ctr" indent="0" marL="0">
              <a:buNone/>
            </a:pPr>
            <a:r>
              <a:rPr lang="en-US" sz="1100" dirty="0">
                <a:solidFill>
                  <a:srgbClr val="7DA395"/>
                </a:solidFill>
                <a:latin typeface="Calibri" pitchFamily="34" charset="0"/>
                <a:ea typeface="Calibri" pitchFamily="34" charset="-122"/>
                <a:cs typeface="Calibri" pitchFamily="34" charset="-120"/>
              </a:rPr>
              <a:t>Investor deck ·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2</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A $30B market that can't move</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Tokenized RWAs exist — but they are locked out of DeFi</a:t>
            </a:r>
            <a:endParaRPr lang="en-US" sz="1400" dirty="0"/>
          </a:p>
        </p:txBody>
      </p:sp>
      <p:sp>
        <p:nvSpPr>
          <p:cNvPr id="6" name="Shape 4"/>
          <p:cNvSpPr/>
          <p:nvPr/>
        </p:nvSpPr>
        <p:spPr>
          <a:xfrm>
            <a:off x="548640" y="1554480"/>
            <a:ext cx="3566160" cy="2011680"/>
          </a:xfrm>
          <a:prstGeom prst="roundRect">
            <a:avLst>
              <a:gd name="adj" fmla="val 5455"/>
            </a:avLst>
          </a:prstGeom>
          <a:solidFill>
            <a:srgbClr val="0C1410"/>
          </a:solidFill>
          <a:ln w="12700">
            <a:solidFill>
              <a:srgbClr val="1C3229"/>
            </a:solidFill>
            <a:prstDash val="solid"/>
          </a:ln>
        </p:spPr>
      </p:sp>
      <p:sp>
        <p:nvSpPr>
          <p:cNvPr id="7" name="Text 5"/>
          <p:cNvSpPr/>
          <p:nvPr/>
        </p:nvSpPr>
        <p:spPr>
          <a:xfrm>
            <a:off x="548640" y="1828800"/>
            <a:ext cx="3566160" cy="914400"/>
          </a:xfrm>
          <a:prstGeom prst="rect">
            <a:avLst/>
          </a:prstGeom>
          <a:noFill/>
          <a:ln/>
        </p:spPr>
        <p:txBody>
          <a:bodyPr wrap="square" lIns="0" tIns="0" rIns="0" bIns="0" rtlCol="0" anchor="ctr"/>
          <a:lstStyle/>
          <a:p>
            <a:pPr algn="ctr" indent="0" marL="0">
              <a:buNone/>
            </a:pPr>
            <a:r>
              <a:rPr lang="en-US" sz="4800" b="1" dirty="0">
                <a:solidFill>
                  <a:srgbClr val="EAFFF6"/>
                </a:solidFill>
                <a:latin typeface="Calibri" pitchFamily="34" charset="0"/>
                <a:ea typeface="Calibri" pitchFamily="34" charset="-122"/>
                <a:cs typeface="Calibri" pitchFamily="34" charset="-120"/>
              </a:rPr>
              <a:t>$30B</a:t>
            </a:r>
            <a:endParaRPr lang="en-US" sz="4800" dirty="0"/>
          </a:p>
        </p:txBody>
      </p:sp>
      <p:sp>
        <p:nvSpPr>
          <p:cNvPr id="8" name="Text 6"/>
          <p:cNvSpPr/>
          <p:nvPr/>
        </p:nvSpPr>
        <p:spPr>
          <a:xfrm>
            <a:off x="822960" y="2788920"/>
            <a:ext cx="3017520" cy="640080"/>
          </a:xfrm>
          <a:prstGeom prst="rect">
            <a:avLst/>
          </a:prstGeom>
          <a:noFill/>
          <a:ln/>
        </p:spPr>
        <p:txBody>
          <a:bodyPr wrap="square" lIns="0" tIns="0" rIns="0" bIns="0" rtlCol="0" anchor="ctr"/>
          <a:lstStyle/>
          <a:p>
            <a:pPr algn="ctr" indent="0" marL="0">
              <a:buNone/>
            </a:pPr>
            <a:r>
              <a:rPr lang="en-US" sz="1300" dirty="0">
                <a:solidFill>
                  <a:srgbClr val="7DA395"/>
                </a:solidFill>
                <a:latin typeface="Calibri" pitchFamily="34" charset="0"/>
                <a:ea typeface="Calibri" pitchFamily="34" charset="-122"/>
                <a:cs typeface="Calibri" pitchFamily="34" charset="-120"/>
              </a:rPr>
              <a:t>of RWAs tokenized on-chain (T-bills, funds, private credit)</a:t>
            </a:r>
            <a:endParaRPr lang="en-US" sz="1300" dirty="0"/>
          </a:p>
        </p:txBody>
      </p:sp>
      <p:sp>
        <p:nvSpPr>
          <p:cNvPr id="9" name="Shape 7"/>
          <p:cNvSpPr/>
          <p:nvPr/>
        </p:nvSpPr>
        <p:spPr>
          <a:xfrm>
            <a:off x="4315968" y="1554480"/>
            <a:ext cx="3566160" cy="2011680"/>
          </a:xfrm>
          <a:prstGeom prst="roundRect">
            <a:avLst>
              <a:gd name="adj" fmla="val 5455"/>
            </a:avLst>
          </a:prstGeom>
          <a:solidFill>
            <a:srgbClr val="0C1410"/>
          </a:solidFill>
          <a:ln w="12700">
            <a:solidFill>
              <a:srgbClr val="1C3229"/>
            </a:solidFill>
            <a:prstDash val="solid"/>
          </a:ln>
        </p:spPr>
      </p:sp>
      <p:sp>
        <p:nvSpPr>
          <p:cNvPr id="10" name="Text 8"/>
          <p:cNvSpPr/>
          <p:nvPr/>
        </p:nvSpPr>
        <p:spPr>
          <a:xfrm>
            <a:off x="4315968" y="1828800"/>
            <a:ext cx="3566160" cy="914400"/>
          </a:xfrm>
          <a:prstGeom prst="rect">
            <a:avLst/>
          </a:prstGeom>
          <a:noFill/>
          <a:ln/>
        </p:spPr>
        <p:txBody>
          <a:bodyPr wrap="square" lIns="0" tIns="0" rIns="0" bIns="0" rtlCol="0" anchor="ctr"/>
          <a:lstStyle/>
          <a:p>
            <a:pPr algn="ctr" indent="0" marL="0">
              <a:buNone/>
            </a:pPr>
            <a:r>
              <a:rPr lang="en-US" sz="4800" b="1" dirty="0">
                <a:solidFill>
                  <a:srgbClr val="00FFA3"/>
                </a:solidFill>
                <a:latin typeface="Calibri" pitchFamily="34" charset="0"/>
                <a:ea typeface="Calibri" pitchFamily="34" charset="-122"/>
                <a:cs typeface="Calibri" pitchFamily="34" charset="-120"/>
              </a:rPr>
              <a:t>~8%</a:t>
            </a:r>
            <a:endParaRPr lang="en-US" sz="4800" dirty="0"/>
          </a:p>
        </p:txBody>
      </p:sp>
      <p:sp>
        <p:nvSpPr>
          <p:cNvPr id="11" name="Text 9"/>
          <p:cNvSpPr/>
          <p:nvPr/>
        </p:nvSpPr>
        <p:spPr>
          <a:xfrm>
            <a:off x="4590288" y="2788920"/>
            <a:ext cx="3017520" cy="640080"/>
          </a:xfrm>
          <a:prstGeom prst="rect">
            <a:avLst/>
          </a:prstGeom>
          <a:noFill/>
          <a:ln/>
        </p:spPr>
        <p:txBody>
          <a:bodyPr wrap="square" lIns="0" tIns="0" rIns="0" bIns="0" rtlCol="0" anchor="ctr"/>
          <a:lstStyle/>
          <a:p>
            <a:pPr algn="ctr" indent="0" marL="0">
              <a:buNone/>
            </a:pPr>
            <a:r>
              <a:rPr lang="en-US" sz="1300" dirty="0">
                <a:solidFill>
                  <a:srgbClr val="7DA395"/>
                </a:solidFill>
                <a:latin typeface="Calibri" pitchFamily="34" charset="0"/>
                <a:ea typeface="Calibri" pitchFamily="34" charset="-122"/>
                <a:cs typeface="Calibri" pitchFamily="34" charset="-120"/>
              </a:rPr>
              <a:t>actually circulates in DeFi protocols</a:t>
            </a:r>
            <a:endParaRPr lang="en-US" sz="1300" dirty="0"/>
          </a:p>
        </p:txBody>
      </p:sp>
      <p:sp>
        <p:nvSpPr>
          <p:cNvPr id="12" name="Shape 10"/>
          <p:cNvSpPr/>
          <p:nvPr/>
        </p:nvSpPr>
        <p:spPr>
          <a:xfrm>
            <a:off x="8083296" y="1554480"/>
            <a:ext cx="3566160" cy="2011680"/>
          </a:xfrm>
          <a:prstGeom prst="roundRect">
            <a:avLst>
              <a:gd name="adj" fmla="val 5455"/>
            </a:avLst>
          </a:prstGeom>
          <a:solidFill>
            <a:srgbClr val="0C1410"/>
          </a:solidFill>
          <a:ln w="12700">
            <a:solidFill>
              <a:srgbClr val="1C3229"/>
            </a:solidFill>
            <a:prstDash val="solid"/>
          </a:ln>
        </p:spPr>
      </p:sp>
      <p:sp>
        <p:nvSpPr>
          <p:cNvPr id="13" name="Text 11"/>
          <p:cNvSpPr/>
          <p:nvPr/>
        </p:nvSpPr>
        <p:spPr>
          <a:xfrm>
            <a:off x="8083296" y="1828800"/>
            <a:ext cx="3566160" cy="914400"/>
          </a:xfrm>
          <a:prstGeom prst="rect">
            <a:avLst/>
          </a:prstGeom>
          <a:noFill/>
          <a:ln/>
        </p:spPr>
        <p:txBody>
          <a:bodyPr wrap="square" lIns="0" tIns="0" rIns="0" bIns="0" rtlCol="0" anchor="ctr"/>
          <a:lstStyle/>
          <a:p>
            <a:pPr algn="ctr" indent="0" marL="0">
              <a:buNone/>
            </a:pPr>
            <a:r>
              <a:rPr lang="en-US" sz="4800" b="1" dirty="0">
                <a:solidFill>
                  <a:srgbClr val="FF6B6B"/>
                </a:solidFill>
                <a:latin typeface="Calibri" pitchFamily="34" charset="0"/>
                <a:ea typeface="Calibri" pitchFamily="34" charset="-122"/>
                <a:cs typeface="Calibri" pitchFamily="34" charset="-120"/>
              </a:rPr>
              <a:t>$0</a:t>
            </a:r>
            <a:endParaRPr lang="en-US" sz="4800" dirty="0"/>
          </a:p>
        </p:txBody>
      </p:sp>
      <p:sp>
        <p:nvSpPr>
          <p:cNvPr id="14" name="Text 12"/>
          <p:cNvSpPr/>
          <p:nvPr/>
        </p:nvSpPr>
        <p:spPr>
          <a:xfrm>
            <a:off x="8357616" y="2788920"/>
            <a:ext cx="3017520" cy="640080"/>
          </a:xfrm>
          <a:prstGeom prst="rect">
            <a:avLst/>
          </a:prstGeom>
          <a:noFill/>
          <a:ln/>
        </p:spPr>
        <p:txBody>
          <a:bodyPr wrap="square" lIns="0" tIns="0" rIns="0" bIns="0" rtlCol="0" anchor="ctr"/>
          <a:lstStyle/>
          <a:p>
            <a:pPr algn="ctr" indent="0" marL="0">
              <a:buNone/>
            </a:pPr>
            <a:r>
              <a:rPr lang="en-US" sz="1300" dirty="0">
                <a:solidFill>
                  <a:srgbClr val="7DA395"/>
                </a:solidFill>
                <a:latin typeface="Calibri" pitchFamily="34" charset="0"/>
                <a:ea typeface="Calibri" pitchFamily="34" charset="-122"/>
                <a:cs typeface="Calibri" pitchFamily="34" charset="-120"/>
              </a:rPr>
              <a:t>of that liquidity earns composable DeFi yield today</a:t>
            </a:r>
            <a:endParaRPr lang="en-US" sz="1300" dirty="0"/>
          </a:p>
        </p:txBody>
      </p:sp>
      <p:sp>
        <p:nvSpPr>
          <p:cNvPr id="15" name="Text 13"/>
          <p:cNvSpPr/>
          <p:nvPr/>
        </p:nvSpPr>
        <p:spPr>
          <a:xfrm>
            <a:off x="548640" y="4023360"/>
            <a:ext cx="11064240" cy="914400"/>
          </a:xfrm>
          <a:prstGeom prst="rect">
            <a:avLst/>
          </a:prstGeom>
          <a:noFill/>
          <a:ln/>
        </p:spPr>
        <p:txBody>
          <a:bodyPr wrap="square" lIns="0" tIns="0" rIns="0" bIns="0" rtlCol="0" anchor="ctr"/>
          <a:lstStyle/>
          <a:p>
            <a:pPr indent="0" marL="0">
              <a:buNone/>
            </a:pPr>
            <a:r>
              <a:rPr lang="en-US" sz="1500" b="1" dirty="0">
                <a:solidFill>
                  <a:srgbClr val="EAFFF6"/>
                </a:solidFill>
                <a:latin typeface="Calibri" pitchFamily="34" charset="0"/>
                <a:ea typeface="Calibri" pitchFamily="34" charset="-122"/>
                <a:cs typeface="Calibri" pitchFamily="34" charset="-120"/>
              </a:rPr>
              <a:t>Why? </a:t>
            </a:r>
            <a:pPr indent="0" marL="0">
              <a:buNone/>
            </a:pPr>
            <a:r>
              <a:rPr lang="en-US" sz="1500" dirty="0">
                <a:solidFill>
                  <a:srgbClr val="7DA395"/>
                </a:solidFill>
                <a:latin typeface="Calibri" pitchFamily="34" charset="0"/>
                <a:ea typeface="Calibri" pitchFamily="34" charset="-122"/>
                <a:cs typeface="Calibri" pitchFamily="34" charset="-120"/>
              </a:rPr>
              <a:t>KYC allowlists and transfer agents mean tokenized treasuries can't be swapped, staked, or used as collateral in open protocols. The ECB warns that without common standards, tokenized markets become isolated pools.</a:t>
            </a:r>
            <a:endParaRPr lang="en-US" sz="1500" dirty="0"/>
          </a:p>
        </p:txBody>
      </p:sp>
      <p:sp>
        <p:nvSpPr>
          <p:cNvPr id="16" name="Shape 14"/>
          <p:cNvSpPr/>
          <p:nvPr/>
        </p:nvSpPr>
        <p:spPr>
          <a:xfrm>
            <a:off x="548640" y="5029200"/>
            <a:ext cx="11064240" cy="1005840"/>
          </a:xfrm>
          <a:prstGeom prst="roundRect">
            <a:avLst>
              <a:gd name="adj" fmla="val 10909"/>
            </a:avLst>
          </a:prstGeom>
          <a:solidFill>
            <a:srgbClr val="122019"/>
          </a:solidFill>
          <a:ln w="12700">
            <a:solidFill>
              <a:srgbClr val="1C3229"/>
            </a:solidFill>
            <a:prstDash val="solid"/>
          </a:ln>
        </p:spPr>
      </p:sp>
      <p:sp>
        <p:nvSpPr>
          <p:cNvPr id="17" name="Text 15"/>
          <p:cNvSpPr/>
          <p:nvPr/>
        </p:nvSpPr>
        <p:spPr>
          <a:xfrm>
            <a:off x="822960" y="5303520"/>
            <a:ext cx="10515600" cy="457200"/>
          </a:xfrm>
          <a:prstGeom prst="rect">
            <a:avLst/>
          </a:prstGeom>
          <a:noFill/>
          <a:ln/>
        </p:spPr>
        <p:txBody>
          <a:bodyPr wrap="square" lIns="0" tIns="0" rIns="0" bIns="0" rtlCol="0" anchor="ctr"/>
          <a:lstStyle/>
          <a:p>
            <a:pPr indent="0" marL="0">
              <a:buNone/>
            </a:pPr>
            <a:r>
              <a:rPr lang="en-US" sz="1600" b="1" dirty="0">
                <a:solidFill>
                  <a:srgbClr val="00FFA3"/>
                </a:solidFill>
                <a:latin typeface="Calibri" pitchFamily="34" charset="0"/>
                <a:ea typeface="Calibri" pitchFamily="34" charset="-122"/>
                <a:cs typeface="Calibri" pitchFamily="34" charset="-120"/>
              </a:rPr>
              <a:t>The gap: </a:t>
            </a:r>
            <a:pPr indent="0" marL="0">
              <a:buNone/>
            </a:pPr>
            <a:r>
              <a:rPr lang="en-US" sz="1600" dirty="0">
                <a:solidFill>
                  <a:srgbClr val="EAFFF6"/>
                </a:solidFill>
                <a:latin typeface="Calibri" pitchFamily="34" charset="0"/>
                <a:ea typeface="Calibri" pitchFamily="34" charset="-122"/>
                <a:cs typeface="Calibri" pitchFamily="34" charset="-120"/>
              </a:rPr>
              <a:t>no one owns the compliance-to-composability layer. Yet.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3</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Passage: compliance inside the token</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Wrap once — compose everywhere</a:t>
            </a:r>
            <a:endParaRPr lang="en-US" sz="1400" dirty="0"/>
          </a:p>
        </p:txBody>
      </p:sp>
      <p:sp>
        <p:nvSpPr>
          <p:cNvPr id="6" name="Shape 4"/>
          <p:cNvSpPr/>
          <p:nvPr/>
        </p:nvSpPr>
        <p:spPr>
          <a:xfrm>
            <a:off x="548640" y="1645920"/>
            <a:ext cx="457200" cy="457200"/>
          </a:xfrm>
          <a:prstGeom prst="ellipse">
            <a:avLst/>
          </a:prstGeom>
          <a:solidFill>
            <a:srgbClr val="00FFA3"/>
          </a:solidFill>
          <a:ln/>
        </p:spPr>
      </p:sp>
      <p:sp>
        <p:nvSpPr>
          <p:cNvPr id="7" name="Text 5"/>
          <p:cNvSpPr/>
          <p:nvPr/>
        </p:nvSpPr>
        <p:spPr>
          <a:xfrm>
            <a:off x="548640" y="1645920"/>
            <a:ext cx="457200" cy="457200"/>
          </a:xfrm>
          <a:prstGeom prst="rect">
            <a:avLst/>
          </a:prstGeom>
          <a:noFill/>
          <a:ln/>
        </p:spPr>
        <p:txBody>
          <a:bodyPr wrap="square" lIns="0" tIns="0" rIns="0" bIns="0" rtlCol="0" anchor="ctr"/>
          <a:lstStyle/>
          <a:p>
            <a:pPr algn="ctr" indent="0" marL="0">
              <a:buNone/>
            </a:pPr>
            <a:r>
              <a:rPr lang="en-US" sz="1800" b="1" dirty="0">
                <a:solidFill>
                  <a:srgbClr val="04150D"/>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548640" y="2240280"/>
            <a:ext cx="3383280" cy="365760"/>
          </a:xfrm>
          <a:prstGeom prst="rect">
            <a:avLst/>
          </a:prstGeom>
          <a:noFill/>
          <a:ln/>
        </p:spPr>
        <p:txBody>
          <a:bodyPr wrap="square" lIns="0" tIns="0" rIns="0" bIns="0" rtlCol="0" anchor="ctr"/>
          <a:lstStyle/>
          <a:p>
            <a:pPr indent="0" marL="0">
              <a:buNone/>
            </a:pPr>
            <a:r>
              <a:rPr lang="en-US" sz="1700" b="1" dirty="0">
                <a:solidFill>
                  <a:srgbClr val="EAFFF6"/>
                </a:solidFill>
                <a:latin typeface="Calibri" pitchFamily="34" charset="0"/>
                <a:ea typeface="Calibri" pitchFamily="34" charset="-122"/>
                <a:cs typeface="Calibri" pitchFamily="34" charset="-120"/>
              </a:rPr>
              <a:t>Deposit a permissioned RWA</a:t>
            </a:r>
            <a:endParaRPr lang="en-US" sz="1700" dirty="0"/>
          </a:p>
        </p:txBody>
      </p:sp>
      <p:sp>
        <p:nvSpPr>
          <p:cNvPr id="9" name="Text 7"/>
          <p:cNvSpPr/>
          <p:nvPr/>
        </p:nvSpPr>
        <p:spPr>
          <a:xfrm>
            <a:off x="548640" y="2651760"/>
            <a:ext cx="3383280" cy="1188720"/>
          </a:xfrm>
          <a:prstGeom prst="rect">
            <a:avLst/>
          </a:prstGeom>
          <a:noFill/>
          <a:ln/>
        </p:spPr>
        <p:txBody>
          <a:bodyPr wrap="square" lIns="0" tIns="0" rIns="0" bIns="0" rtlCol="0" anchor="ctr"/>
          <a:lstStyle/>
          <a:p>
            <a:pPr indent="0" marL="0">
              <a:buNone/>
            </a:pPr>
            <a:r>
              <a:rPr lang="en-US" sz="1300" dirty="0">
                <a:solidFill>
                  <a:srgbClr val="7DA395"/>
                </a:solidFill>
                <a:latin typeface="Calibri" pitchFamily="34" charset="0"/>
                <a:ea typeface="Calibri" pitchFamily="34" charset="-122"/>
                <a:cs typeface="Calibri" pitchFamily="34" charset="-120"/>
              </a:rPr>
              <a:t>Tokenized T-bill, fund, or credit goes into the Passage vault. 1:1 backing, on-chain.</a:t>
            </a:r>
            <a:endParaRPr lang="en-US" sz="1300" dirty="0"/>
          </a:p>
        </p:txBody>
      </p:sp>
      <p:sp>
        <p:nvSpPr>
          <p:cNvPr id="10" name="Shape 8"/>
          <p:cNvSpPr/>
          <p:nvPr/>
        </p:nvSpPr>
        <p:spPr>
          <a:xfrm>
            <a:off x="4434840" y="1645920"/>
            <a:ext cx="457200" cy="457200"/>
          </a:xfrm>
          <a:prstGeom prst="ellipse">
            <a:avLst/>
          </a:prstGeom>
          <a:solidFill>
            <a:srgbClr val="00FFA3"/>
          </a:solidFill>
          <a:ln/>
        </p:spPr>
      </p:sp>
      <p:sp>
        <p:nvSpPr>
          <p:cNvPr id="11" name="Text 9"/>
          <p:cNvSpPr/>
          <p:nvPr/>
        </p:nvSpPr>
        <p:spPr>
          <a:xfrm>
            <a:off x="4434840" y="1645920"/>
            <a:ext cx="457200" cy="457200"/>
          </a:xfrm>
          <a:prstGeom prst="rect">
            <a:avLst/>
          </a:prstGeom>
          <a:noFill/>
          <a:ln/>
        </p:spPr>
        <p:txBody>
          <a:bodyPr wrap="square" lIns="0" tIns="0" rIns="0" bIns="0" rtlCol="0" anchor="ctr"/>
          <a:lstStyle/>
          <a:p>
            <a:pPr algn="ctr" indent="0" marL="0">
              <a:buNone/>
            </a:pPr>
            <a:r>
              <a:rPr lang="en-US" sz="1800" b="1" dirty="0">
                <a:solidFill>
                  <a:srgbClr val="04150D"/>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4434840" y="2240280"/>
            <a:ext cx="3383280" cy="365760"/>
          </a:xfrm>
          <a:prstGeom prst="rect">
            <a:avLst/>
          </a:prstGeom>
          <a:noFill/>
          <a:ln/>
        </p:spPr>
        <p:txBody>
          <a:bodyPr wrap="square" lIns="0" tIns="0" rIns="0" bIns="0" rtlCol="0" anchor="ctr"/>
          <a:lstStyle/>
          <a:p>
            <a:pPr indent="0" marL="0">
              <a:buNone/>
            </a:pPr>
            <a:r>
              <a:rPr lang="en-US" sz="1700" b="1" dirty="0">
                <a:solidFill>
                  <a:srgbClr val="EAFFF6"/>
                </a:solidFill>
                <a:latin typeface="Calibri" pitchFamily="34" charset="0"/>
                <a:ea typeface="Calibri" pitchFamily="34" charset="-122"/>
                <a:cs typeface="Calibri" pitchFamily="34" charset="-120"/>
              </a:rPr>
              <a:t>Receive a pToken</a:t>
            </a:r>
            <a:endParaRPr lang="en-US" sz="1700" dirty="0"/>
          </a:p>
        </p:txBody>
      </p:sp>
      <p:sp>
        <p:nvSpPr>
          <p:cNvPr id="13" name="Text 11"/>
          <p:cNvSpPr/>
          <p:nvPr/>
        </p:nvSpPr>
        <p:spPr>
          <a:xfrm>
            <a:off x="4434840" y="2651760"/>
            <a:ext cx="3383280" cy="1188720"/>
          </a:xfrm>
          <a:prstGeom prst="rect">
            <a:avLst/>
          </a:prstGeom>
          <a:noFill/>
          <a:ln/>
        </p:spPr>
        <p:txBody>
          <a:bodyPr wrap="square" lIns="0" tIns="0" rIns="0" bIns="0" rtlCol="0" anchor="ctr"/>
          <a:lstStyle/>
          <a:p>
            <a:pPr indent="0" marL="0">
              <a:buNone/>
            </a:pPr>
            <a:r>
              <a:rPr lang="en-US" sz="1300" dirty="0">
                <a:solidFill>
                  <a:srgbClr val="7DA395"/>
                </a:solidFill>
                <a:latin typeface="Calibri" pitchFamily="34" charset="0"/>
                <a:ea typeface="Calibri" pitchFamily="34" charset="-122"/>
                <a:cs typeface="Calibri" pitchFamily="34" charset="-120"/>
              </a:rPr>
              <a:t>A Token-2022 asset with a built-in transfer hook. Every transfer verifies the recipient's credential on-chain.</a:t>
            </a:r>
            <a:endParaRPr lang="en-US" sz="1300" dirty="0"/>
          </a:p>
        </p:txBody>
      </p:sp>
      <p:sp>
        <p:nvSpPr>
          <p:cNvPr id="14" name="Shape 12"/>
          <p:cNvSpPr/>
          <p:nvPr/>
        </p:nvSpPr>
        <p:spPr>
          <a:xfrm>
            <a:off x="8321040" y="1645920"/>
            <a:ext cx="457200" cy="457200"/>
          </a:xfrm>
          <a:prstGeom prst="ellipse">
            <a:avLst/>
          </a:prstGeom>
          <a:solidFill>
            <a:srgbClr val="00FFA3"/>
          </a:solidFill>
          <a:ln/>
        </p:spPr>
      </p:sp>
      <p:sp>
        <p:nvSpPr>
          <p:cNvPr id="15" name="Text 13"/>
          <p:cNvSpPr/>
          <p:nvPr/>
        </p:nvSpPr>
        <p:spPr>
          <a:xfrm>
            <a:off x="8321040" y="1645920"/>
            <a:ext cx="457200" cy="457200"/>
          </a:xfrm>
          <a:prstGeom prst="rect">
            <a:avLst/>
          </a:prstGeom>
          <a:noFill/>
          <a:ln/>
        </p:spPr>
        <p:txBody>
          <a:bodyPr wrap="square" lIns="0" tIns="0" rIns="0" bIns="0" rtlCol="0" anchor="ctr"/>
          <a:lstStyle/>
          <a:p>
            <a:pPr algn="ctr" indent="0" marL="0">
              <a:buNone/>
            </a:pPr>
            <a:r>
              <a:rPr lang="en-US" sz="1800" b="1" dirty="0">
                <a:solidFill>
                  <a:srgbClr val="04150D"/>
                </a:solidFill>
                <a:latin typeface="Calibri" pitchFamily="34" charset="0"/>
                <a:ea typeface="Calibri" pitchFamily="34" charset="-122"/>
                <a:cs typeface="Calibri" pitchFamily="34" charset="-120"/>
              </a:rPr>
              <a:t>3</a:t>
            </a:r>
            <a:endParaRPr lang="en-US" sz="1800" dirty="0"/>
          </a:p>
        </p:txBody>
      </p:sp>
      <p:sp>
        <p:nvSpPr>
          <p:cNvPr id="16" name="Text 14"/>
          <p:cNvSpPr/>
          <p:nvPr/>
        </p:nvSpPr>
        <p:spPr>
          <a:xfrm>
            <a:off x="8321040" y="2240280"/>
            <a:ext cx="3383280" cy="365760"/>
          </a:xfrm>
          <a:prstGeom prst="rect">
            <a:avLst/>
          </a:prstGeom>
          <a:noFill/>
          <a:ln/>
        </p:spPr>
        <p:txBody>
          <a:bodyPr wrap="square" lIns="0" tIns="0" rIns="0" bIns="0" rtlCol="0" anchor="ctr"/>
          <a:lstStyle/>
          <a:p>
            <a:pPr indent="0" marL="0">
              <a:buNone/>
            </a:pPr>
            <a:r>
              <a:rPr lang="en-US" sz="1700" b="1" dirty="0">
                <a:solidFill>
                  <a:srgbClr val="EAFFF6"/>
                </a:solidFill>
                <a:latin typeface="Calibri" pitchFamily="34" charset="0"/>
                <a:ea typeface="Calibri" pitchFamily="34" charset="-122"/>
                <a:cs typeface="Calibri" pitchFamily="34" charset="-120"/>
              </a:rPr>
              <a:t>Compose freely</a:t>
            </a:r>
            <a:endParaRPr lang="en-US" sz="1700" dirty="0"/>
          </a:p>
        </p:txBody>
      </p:sp>
      <p:sp>
        <p:nvSpPr>
          <p:cNvPr id="17" name="Text 15"/>
          <p:cNvSpPr/>
          <p:nvPr/>
        </p:nvSpPr>
        <p:spPr>
          <a:xfrm>
            <a:off x="8321040" y="2651760"/>
            <a:ext cx="3383280" cy="1188720"/>
          </a:xfrm>
          <a:prstGeom prst="rect">
            <a:avLst/>
          </a:prstGeom>
          <a:noFill/>
          <a:ln/>
        </p:spPr>
        <p:txBody>
          <a:bodyPr wrap="square" lIns="0" tIns="0" rIns="0" bIns="0" rtlCol="0" anchor="ctr"/>
          <a:lstStyle/>
          <a:p>
            <a:pPr indent="0" marL="0">
              <a:buNone/>
            </a:pPr>
            <a:r>
              <a:rPr lang="en-US" sz="1300" dirty="0">
                <a:solidFill>
                  <a:srgbClr val="7DA395"/>
                </a:solidFill>
                <a:latin typeface="Calibri" pitchFamily="34" charset="0"/>
                <a:ea typeface="Calibri" pitchFamily="34" charset="-122"/>
                <a:cs typeface="Calibri" pitchFamily="34" charset="-120"/>
              </a:rPr>
              <a:t>Swap, lend, collateralize in any protocol. Only verified wallets can ever hold it — compliance is enforced by the token itself.</a:t>
            </a:r>
            <a:endParaRPr lang="en-US" sz="1300" dirty="0"/>
          </a:p>
        </p:txBody>
      </p:sp>
      <p:sp>
        <p:nvSpPr>
          <p:cNvPr id="18" name="Shape 16"/>
          <p:cNvSpPr/>
          <p:nvPr/>
        </p:nvSpPr>
        <p:spPr>
          <a:xfrm>
            <a:off x="3977640" y="1874520"/>
            <a:ext cx="365760" cy="0"/>
          </a:xfrm>
          <a:prstGeom prst="line">
            <a:avLst/>
          </a:prstGeom>
          <a:noFill/>
          <a:ln w="25400">
            <a:solidFill>
              <a:srgbClr val="00FFA3"/>
            </a:solidFill>
            <a:prstDash val="solid"/>
            <a:tailEnd type="triangle"/>
          </a:ln>
        </p:spPr>
      </p:sp>
      <p:sp>
        <p:nvSpPr>
          <p:cNvPr id="19" name="Shape 17"/>
          <p:cNvSpPr/>
          <p:nvPr/>
        </p:nvSpPr>
        <p:spPr>
          <a:xfrm>
            <a:off x="7863840" y="1874520"/>
            <a:ext cx="365760" cy="0"/>
          </a:xfrm>
          <a:prstGeom prst="line">
            <a:avLst/>
          </a:prstGeom>
          <a:noFill/>
          <a:ln w="25400">
            <a:solidFill>
              <a:srgbClr val="00FFA3"/>
            </a:solidFill>
            <a:prstDash val="solid"/>
            <a:tailEnd type="triangle"/>
          </a:ln>
        </p:spPr>
      </p:sp>
      <p:sp>
        <p:nvSpPr>
          <p:cNvPr id="20" name="Shape 18"/>
          <p:cNvSpPr/>
          <p:nvPr/>
        </p:nvSpPr>
        <p:spPr>
          <a:xfrm>
            <a:off x="548640" y="4114800"/>
            <a:ext cx="11064240" cy="1737360"/>
          </a:xfrm>
          <a:prstGeom prst="roundRect">
            <a:avLst>
              <a:gd name="adj" fmla="val 6316"/>
            </a:avLst>
          </a:prstGeom>
          <a:solidFill>
            <a:srgbClr val="0C1410"/>
          </a:solidFill>
          <a:ln w="12700">
            <a:solidFill>
              <a:srgbClr val="1C3229"/>
            </a:solidFill>
            <a:prstDash val="solid"/>
          </a:ln>
        </p:spPr>
      </p:sp>
      <p:sp>
        <p:nvSpPr>
          <p:cNvPr id="21" name="Text 19"/>
          <p:cNvSpPr/>
          <p:nvPr/>
        </p:nvSpPr>
        <p:spPr>
          <a:xfrm>
            <a:off x="822960" y="4343400"/>
            <a:ext cx="10515600" cy="365760"/>
          </a:xfrm>
          <a:prstGeom prst="rect">
            <a:avLst/>
          </a:prstGeom>
          <a:noFill/>
          <a:ln/>
        </p:spPr>
        <p:txBody>
          <a:bodyPr wrap="square" lIns="0" tIns="0" rIns="0" bIns="0" rtlCol="0" anchor="ctr"/>
          <a:lstStyle/>
          <a:p>
            <a:pPr indent="0" marL="0">
              <a:buNone/>
            </a:pPr>
            <a:r>
              <a:rPr lang="en-US" sz="1500" b="1" dirty="0">
                <a:solidFill>
                  <a:srgbClr val="00FFA3"/>
                </a:solidFill>
                <a:latin typeface="Calibri" pitchFamily="34" charset="0"/>
                <a:ea typeface="Calibri" pitchFamily="34" charset="-122"/>
                <a:cs typeface="Calibri" pitchFamily="34" charset="-120"/>
              </a:rPr>
              <a:t>Why issuers say yes</a:t>
            </a:r>
            <a:endParaRPr lang="en-US" sz="1500" dirty="0"/>
          </a:p>
        </p:txBody>
      </p:sp>
      <p:sp>
        <p:nvSpPr>
          <p:cNvPr id="22" name="Text 20"/>
          <p:cNvSpPr/>
          <p:nvPr/>
        </p:nvSpPr>
        <p:spPr>
          <a:xfrm>
            <a:off x="822960" y="4754880"/>
            <a:ext cx="10515600" cy="91440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Passage doesn't compete with BlackRock, Ondo, or Centrifuge — it makes their assets more valuable. Neutral infrastructure, one integration, every DeFi venue. Regulators get an auditable, on-chain KYC trail on every single transfer.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4</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Not a whitepaper — a working protocol</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Built and tested on Solana</a:t>
            </a:r>
            <a:endParaRPr lang="en-US" sz="1400" dirty="0"/>
          </a:p>
        </p:txBody>
      </p:sp>
      <p:sp>
        <p:nvSpPr>
          <p:cNvPr id="6" name="Shape 4"/>
          <p:cNvSpPr/>
          <p:nvPr/>
        </p:nvSpPr>
        <p:spPr>
          <a:xfrm>
            <a:off x="548640" y="1508760"/>
            <a:ext cx="5394960" cy="1234440"/>
          </a:xfrm>
          <a:prstGeom prst="roundRect">
            <a:avLst>
              <a:gd name="adj" fmla="val 8889"/>
            </a:avLst>
          </a:prstGeom>
          <a:solidFill>
            <a:srgbClr val="0C1410"/>
          </a:solidFill>
          <a:ln w="12700">
            <a:solidFill>
              <a:srgbClr val="1C3229"/>
            </a:solidFill>
            <a:prstDash val="solid"/>
          </a:ln>
        </p:spPr>
      </p:sp>
      <p:sp>
        <p:nvSpPr>
          <p:cNvPr id="7" name="Text 5"/>
          <p:cNvSpPr/>
          <p:nvPr/>
        </p:nvSpPr>
        <p:spPr>
          <a:xfrm>
            <a:off x="822960" y="1673352"/>
            <a:ext cx="4846320" cy="365760"/>
          </a:xfrm>
          <a:prstGeom prst="rect">
            <a:avLst/>
          </a:prstGeom>
          <a:noFill/>
          <a:ln/>
        </p:spPr>
        <p:txBody>
          <a:bodyPr wrap="square" lIns="0" tIns="0" rIns="0" bIns="0" rtlCol="0" anchor="ctr"/>
          <a:lstStyle/>
          <a:p>
            <a:pPr indent="0" marL="0">
              <a:buNone/>
            </a:pPr>
            <a:r>
              <a:rPr lang="en-US" sz="1400" b="1" dirty="0">
                <a:solidFill>
                  <a:srgbClr val="00FFA3"/>
                </a:solidFill>
                <a:latin typeface="Courier New" pitchFamily="34" charset="0"/>
                <a:ea typeface="Courier New" pitchFamily="34" charset="-122"/>
                <a:cs typeface="Courier New" pitchFamily="34" charset="-120"/>
              </a:rPr>
              <a:t>passage_wrapper</a:t>
            </a:r>
            <a:endParaRPr lang="en-US" sz="1400" dirty="0"/>
          </a:p>
        </p:txBody>
      </p:sp>
      <p:sp>
        <p:nvSpPr>
          <p:cNvPr id="8" name="Text 6"/>
          <p:cNvSpPr/>
          <p:nvPr/>
        </p:nvSpPr>
        <p:spPr>
          <a:xfrm>
            <a:off x="822960" y="2057400"/>
            <a:ext cx="4846320" cy="548640"/>
          </a:xfrm>
          <a:prstGeom prst="rect">
            <a:avLst/>
          </a:prstGeom>
          <a:noFill/>
          <a:ln/>
        </p:spPr>
        <p:txBody>
          <a:bodyPr wrap="square" lIns="0" tIns="0" rIns="0" bIns="0" rtlCol="0" anchor="ctr"/>
          <a:lstStyle/>
          <a:p>
            <a:pPr indent="0" marL="0">
              <a:buNone/>
            </a:pPr>
            <a:r>
              <a:rPr lang="en-US" sz="1200" dirty="0">
                <a:solidFill>
                  <a:srgbClr val="7DA395"/>
                </a:solidFill>
                <a:latin typeface="Calibri" pitchFamily="34" charset="0"/>
                <a:ea typeface="Calibri" pitchFamily="34" charset="-122"/>
                <a:cs typeface="Calibri" pitchFamily="34" charset="-120"/>
              </a:rPr>
              <a:t>Vault: wrap/unwrap 1:1, fee accrual, treasury collection</a:t>
            </a:r>
            <a:endParaRPr lang="en-US" sz="1200" dirty="0"/>
          </a:p>
        </p:txBody>
      </p:sp>
      <p:sp>
        <p:nvSpPr>
          <p:cNvPr id="9" name="Shape 7"/>
          <p:cNvSpPr/>
          <p:nvPr/>
        </p:nvSpPr>
        <p:spPr>
          <a:xfrm>
            <a:off x="6263640" y="1508760"/>
            <a:ext cx="5394960" cy="1234440"/>
          </a:xfrm>
          <a:prstGeom prst="roundRect">
            <a:avLst>
              <a:gd name="adj" fmla="val 8889"/>
            </a:avLst>
          </a:prstGeom>
          <a:solidFill>
            <a:srgbClr val="0C1410"/>
          </a:solidFill>
          <a:ln w="12700">
            <a:solidFill>
              <a:srgbClr val="1C3229"/>
            </a:solidFill>
            <a:prstDash val="solid"/>
          </a:ln>
        </p:spPr>
      </p:sp>
      <p:sp>
        <p:nvSpPr>
          <p:cNvPr id="10" name="Text 8"/>
          <p:cNvSpPr/>
          <p:nvPr/>
        </p:nvSpPr>
        <p:spPr>
          <a:xfrm>
            <a:off x="6537960" y="1673352"/>
            <a:ext cx="4846320" cy="365760"/>
          </a:xfrm>
          <a:prstGeom prst="rect">
            <a:avLst/>
          </a:prstGeom>
          <a:noFill/>
          <a:ln/>
        </p:spPr>
        <p:txBody>
          <a:bodyPr wrap="square" lIns="0" tIns="0" rIns="0" bIns="0" rtlCol="0" anchor="ctr"/>
          <a:lstStyle/>
          <a:p>
            <a:pPr indent="0" marL="0">
              <a:buNone/>
            </a:pPr>
            <a:r>
              <a:rPr lang="en-US" sz="1400" b="1" dirty="0">
                <a:solidFill>
                  <a:srgbClr val="00FFA3"/>
                </a:solidFill>
                <a:latin typeface="Courier New" pitchFamily="34" charset="0"/>
                <a:ea typeface="Courier New" pitchFamily="34" charset="-122"/>
                <a:cs typeface="Courier New" pitchFamily="34" charset="-120"/>
              </a:rPr>
              <a:t>passage_identity</a:t>
            </a:r>
            <a:endParaRPr lang="en-US" sz="1400" dirty="0"/>
          </a:p>
        </p:txBody>
      </p:sp>
      <p:sp>
        <p:nvSpPr>
          <p:cNvPr id="11" name="Text 9"/>
          <p:cNvSpPr/>
          <p:nvPr/>
        </p:nvSpPr>
        <p:spPr>
          <a:xfrm>
            <a:off x="6537960" y="2057400"/>
            <a:ext cx="4846320" cy="548640"/>
          </a:xfrm>
          <a:prstGeom prst="rect">
            <a:avLst/>
          </a:prstGeom>
          <a:noFill/>
          <a:ln/>
        </p:spPr>
        <p:txBody>
          <a:bodyPr wrap="square" lIns="0" tIns="0" rIns="0" bIns="0" rtlCol="0" anchor="ctr"/>
          <a:lstStyle/>
          <a:p>
            <a:pPr indent="0" marL="0">
              <a:buNone/>
            </a:pPr>
            <a:r>
              <a:rPr lang="en-US" sz="1200" dirty="0">
                <a:solidFill>
                  <a:srgbClr val="7DA395"/>
                </a:solidFill>
                <a:latin typeface="Calibri" pitchFamily="34" charset="0"/>
                <a:ea typeface="Calibri" pitchFamily="34" charset="-122"/>
                <a:cs typeface="Calibri" pitchFamily="34" charset="-120"/>
              </a:rPr>
              <a:t>Credential registry: verify &amp; revoke wallets (KYC attestations)</a:t>
            </a:r>
            <a:endParaRPr lang="en-US" sz="1200" dirty="0"/>
          </a:p>
        </p:txBody>
      </p:sp>
      <p:sp>
        <p:nvSpPr>
          <p:cNvPr id="12" name="Shape 10"/>
          <p:cNvSpPr/>
          <p:nvPr/>
        </p:nvSpPr>
        <p:spPr>
          <a:xfrm>
            <a:off x="548640" y="2880360"/>
            <a:ext cx="5394960" cy="1234440"/>
          </a:xfrm>
          <a:prstGeom prst="roundRect">
            <a:avLst>
              <a:gd name="adj" fmla="val 8889"/>
            </a:avLst>
          </a:prstGeom>
          <a:solidFill>
            <a:srgbClr val="0C1410"/>
          </a:solidFill>
          <a:ln w="12700">
            <a:solidFill>
              <a:srgbClr val="1C3229"/>
            </a:solidFill>
            <a:prstDash val="solid"/>
          </a:ln>
        </p:spPr>
      </p:sp>
      <p:sp>
        <p:nvSpPr>
          <p:cNvPr id="13" name="Text 11"/>
          <p:cNvSpPr/>
          <p:nvPr/>
        </p:nvSpPr>
        <p:spPr>
          <a:xfrm>
            <a:off x="822960" y="3044952"/>
            <a:ext cx="4846320" cy="365760"/>
          </a:xfrm>
          <a:prstGeom prst="rect">
            <a:avLst/>
          </a:prstGeom>
          <a:noFill/>
          <a:ln/>
        </p:spPr>
        <p:txBody>
          <a:bodyPr wrap="square" lIns="0" tIns="0" rIns="0" bIns="0" rtlCol="0" anchor="ctr"/>
          <a:lstStyle/>
          <a:p>
            <a:pPr indent="0" marL="0">
              <a:buNone/>
            </a:pPr>
            <a:r>
              <a:rPr lang="en-US" sz="1400" b="1" dirty="0">
                <a:solidFill>
                  <a:srgbClr val="00FFA3"/>
                </a:solidFill>
                <a:latin typeface="Courier New" pitchFamily="34" charset="0"/>
                <a:ea typeface="Courier New" pitchFamily="34" charset="-122"/>
                <a:cs typeface="Courier New" pitchFamily="34" charset="-120"/>
              </a:rPr>
              <a:t>passage_hook</a:t>
            </a:r>
            <a:endParaRPr lang="en-US" sz="1400" dirty="0"/>
          </a:p>
        </p:txBody>
      </p:sp>
      <p:sp>
        <p:nvSpPr>
          <p:cNvPr id="14" name="Text 12"/>
          <p:cNvSpPr/>
          <p:nvPr/>
        </p:nvSpPr>
        <p:spPr>
          <a:xfrm>
            <a:off x="822960" y="3429000"/>
            <a:ext cx="4846320" cy="548640"/>
          </a:xfrm>
          <a:prstGeom prst="rect">
            <a:avLst/>
          </a:prstGeom>
          <a:noFill/>
          <a:ln/>
        </p:spPr>
        <p:txBody>
          <a:bodyPr wrap="square" lIns="0" tIns="0" rIns="0" bIns="0" rtlCol="0" anchor="ctr"/>
          <a:lstStyle/>
          <a:p>
            <a:pPr indent="0" marL="0">
              <a:buNone/>
            </a:pPr>
            <a:r>
              <a:rPr lang="en-US" sz="1200" dirty="0">
                <a:solidFill>
                  <a:srgbClr val="7DA395"/>
                </a:solidFill>
                <a:latin typeface="Calibri" pitchFamily="34" charset="0"/>
                <a:ea typeface="Calibri" pitchFamily="34" charset="-122"/>
                <a:cs typeface="Calibri" pitchFamily="34" charset="-120"/>
              </a:rPr>
              <a:t>Token-2022 transfer hook: blocks any transfer to unverified wallets</a:t>
            </a:r>
            <a:endParaRPr lang="en-US" sz="1200" dirty="0"/>
          </a:p>
        </p:txBody>
      </p:sp>
      <p:sp>
        <p:nvSpPr>
          <p:cNvPr id="15" name="Shape 13"/>
          <p:cNvSpPr/>
          <p:nvPr/>
        </p:nvSpPr>
        <p:spPr>
          <a:xfrm>
            <a:off x="6263640" y="2880360"/>
            <a:ext cx="5394960" cy="1234440"/>
          </a:xfrm>
          <a:prstGeom prst="roundRect">
            <a:avLst>
              <a:gd name="adj" fmla="val 8889"/>
            </a:avLst>
          </a:prstGeom>
          <a:solidFill>
            <a:srgbClr val="0C1410"/>
          </a:solidFill>
          <a:ln w="12700">
            <a:solidFill>
              <a:srgbClr val="1C3229"/>
            </a:solidFill>
            <a:prstDash val="solid"/>
          </a:ln>
        </p:spPr>
      </p:sp>
      <p:sp>
        <p:nvSpPr>
          <p:cNvPr id="16" name="Text 14"/>
          <p:cNvSpPr/>
          <p:nvPr/>
        </p:nvSpPr>
        <p:spPr>
          <a:xfrm>
            <a:off x="6537960" y="3044952"/>
            <a:ext cx="4846320" cy="365760"/>
          </a:xfrm>
          <a:prstGeom prst="rect">
            <a:avLst/>
          </a:prstGeom>
          <a:noFill/>
          <a:ln/>
        </p:spPr>
        <p:txBody>
          <a:bodyPr wrap="square" lIns="0" tIns="0" rIns="0" bIns="0" rtlCol="0" anchor="ctr"/>
          <a:lstStyle/>
          <a:p>
            <a:pPr indent="0" marL="0">
              <a:buNone/>
            </a:pPr>
            <a:r>
              <a:rPr lang="en-US" sz="1400" b="1" dirty="0">
                <a:solidFill>
                  <a:srgbClr val="00FFA3"/>
                </a:solidFill>
                <a:latin typeface="Courier New" pitchFamily="34" charset="0"/>
                <a:ea typeface="Courier New" pitchFamily="34" charset="-122"/>
                <a:cs typeface="Courier New" pitchFamily="34" charset="-120"/>
              </a:rPr>
              <a:t>passage_pool</a:t>
            </a:r>
            <a:endParaRPr lang="en-US" sz="1400" dirty="0"/>
          </a:p>
        </p:txBody>
      </p:sp>
      <p:sp>
        <p:nvSpPr>
          <p:cNvPr id="17" name="Text 15"/>
          <p:cNvSpPr/>
          <p:nvPr/>
        </p:nvSpPr>
        <p:spPr>
          <a:xfrm>
            <a:off x="6537960" y="3429000"/>
            <a:ext cx="4846320" cy="548640"/>
          </a:xfrm>
          <a:prstGeom prst="rect">
            <a:avLst/>
          </a:prstGeom>
          <a:noFill/>
          <a:ln/>
        </p:spPr>
        <p:txBody>
          <a:bodyPr wrap="square" lIns="0" tIns="0" rIns="0" bIns="0" rtlCol="0" anchor="ctr"/>
          <a:lstStyle/>
          <a:p>
            <a:pPr indent="0" marL="0">
              <a:buNone/>
            </a:pPr>
            <a:r>
              <a:rPr lang="en-US" sz="1200" dirty="0">
                <a:solidFill>
                  <a:srgbClr val="7DA395"/>
                </a:solidFill>
                <a:latin typeface="Calibri" pitchFamily="34" charset="0"/>
                <a:ea typeface="Calibri" pitchFamily="34" charset="-122"/>
                <a:cs typeface="Calibri" pitchFamily="34" charset="-120"/>
              </a:rPr>
              <a:t>Gated AMM: swap pTokens vs USDC — LPs earn, everyone stays verified</a:t>
            </a:r>
            <a:endParaRPr lang="en-US" sz="1200" dirty="0"/>
          </a:p>
        </p:txBody>
      </p:sp>
      <p:sp>
        <p:nvSpPr>
          <p:cNvPr id="18" name="Text 16"/>
          <p:cNvSpPr/>
          <p:nvPr/>
        </p:nvSpPr>
        <p:spPr>
          <a:xfrm>
            <a:off x="1097280" y="4480560"/>
            <a:ext cx="2743200" cy="731520"/>
          </a:xfrm>
          <a:prstGeom prst="rect">
            <a:avLst/>
          </a:prstGeom>
          <a:noFill/>
          <a:ln/>
        </p:spPr>
        <p:txBody>
          <a:bodyPr wrap="square" lIns="0" tIns="0" rIns="0" bIns="0" rtlCol="0" anchor="ctr"/>
          <a:lstStyle/>
          <a:p>
            <a:pPr algn="ctr" indent="0" marL="0">
              <a:buNone/>
            </a:pPr>
            <a:r>
              <a:rPr lang="en-US" sz="4000" b="1" dirty="0">
                <a:solidFill>
                  <a:srgbClr val="00FFA3"/>
                </a:solidFill>
                <a:latin typeface="Calibri" pitchFamily="34" charset="0"/>
                <a:ea typeface="Calibri" pitchFamily="34" charset="-122"/>
                <a:cs typeface="Calibri" pitchFamily="34" charset="-120"/>
              </a:rPr>
              <a:t>5</a:t>
            </a:r>
            <a:endParaRPr lang="en-US" sz="4000" dirty="0"/>
          </a:p>
        </p:txBody>
      </p:sp>
      <p:sp>
        <p:nvSpPr>
          <p:cNvPr id="19" name="Text 17"/>
          <p:cNvSpPr/>
          <p:nvPr/>
        </p:nvSpPr>
        <p:spPr>
          <a:xfrm>
            <a:off x="1097280" y="5212080"/>
            <a:ext cx="274320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on-chain programs</a:t>
            </a:r>
            <a:endParaRPr lang="en-US" sz="1200" dirty="0"/>
          </a:p>
          <a:p>
            <a:pPr algn="ctr" indent="0" marL="0">
              <a:buNone/>
            </a:pPr>
            <a:r>
              <a:rPr lang="en-US" sz="1200" dirty="0">
                <a:solidFill>
                  <a:srgbClr val="7DA395"/>
                </a:solidFill>
                <a:latin typeface="Calibri" pitchFamily="34" charset="0"/>
                <a:ea typeface="Calibri" pitchFamily="34" charset="-122"/>
                <a:cs typeface="Calibri" pitchFamily="34" charset="-120"/>
              </a:rPr>
              <a:t>live on devnet</a:t>
            </a:r>
            <a:endParaRPr lang="en-US" sz="1200" dirty="0"/>
          </a:p>
        </p:txBody>
      </p:sp>
      <p:sp>
        <p:nvSpPr>
          <p:cNvPr id="20" name="Text 18"/>
          <p:cNvSpPr/>
          <p:nvPr/>
        </p:nvSpPr>
        <p:spPr>
          <a:xfrm>
            <a:off x="4709160" y="4480560"/>
            <a:ext cx="2743200" cy="731520"/>
          </a:xfrm>
          <a:prstGeom prst="rect">
            <a:avLst/>
          </a:prstGeom>
          <a:noFill/>
          <a:ln/>
        </p:spPr>
        <p:txBody>
          <a:bodyPr wrap="square" lIns="0" tIns="0" rIns="0" bIns="0" rtlCol="0" anchor="ctr"/>
          <a:lstStyle/>
          <a:p>
            <a:pPr algn="ctr" indent="0" marL="0">
              <a:buNone/>
            </a:pPr>
            <a:r>
              <a:rPr lang="en-US" sz="4000" b="1" dirty="0">
                <a:solidFill>
                  <a:srgbClr val="00FFA3"/>
                </a:solidFill>
                <a:latin typeface="Calibri" pitchFamily="34" charset="0"/>
                <a:ea typeface="Calibri" pitchFamily="34" charset="-122"/>
                <a:cs typeface="Calibri" pitchFamily="34" charset="-120"/>
              </a:rPr>
              <a:t>21</a:t>
            </a:r>
            <a:endParaRPr lang="en-US" sz="4000" dirty="0"/>
          </a:p>
        </p:txBody>
      </p:sp>
      <p:sp>
        <p:nvSpPr>
          <p:cNvPr id="21" name="Text 19"/>
          <p:cNvSpPr/>
          <p:nvPr/>
        </p:nvSpPr>
        <p:spPr>
          <a:xfrm>
            <a:off x="4709160" y="5212080"/>
            <a:ext cx="274320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integration tests, all passing</a:t>
            </a:r>
            <a:endParaRPr lang="en-US" sz="1200" dirty="0"/>
          </a:p>
          <a:p>
            <a:pPr algn="ctr" indent="0" marL="0">
              <a:buNone/>
            </a:pPr>
            <a:r>
              <a:rPr lang="en-US" sz="1200" dirty="0">
                <a:solidFill>
                  <a:srgbClr val="7DA395"/>
                </a:solidFill>
                <a:latin typeface="Calibri" pitchFamily="34" charset="0"/>
                <a:ea typeface="Calibri" pitchFamily="34" charset="-122"/>
                <a:cs typeface="Calibri" pitchFamily="34" charset="-120"/>
              </a:rPr>
              <a:t>incl. compliance blocking</a:t>
            </a:r>
            <a:endParaRPr lang="en-US" sz="1200" dirty="0"/>
          </a:p>
        </p:txBody>
      </p:sp>
      <p:sp>
        <p:nvSpPr>
          <p:cNvPr id="22" name="Text 20"/>
          <p:cNvSpPr/>
          <p:nvPr/>
        </p:nvSpPr>
        <p:spPr>
          <a:xfrm>
            <a:off x="8321040" y="4480560"/>
            <a:ext cx="2743200" cy="731520"/>
          </a:xfrm>
          <a:prstGeom prst="rect">
            <a:avLst/>
          </a:prstGeom>
          <a:noFill/>
          <a:ln/>
        </p:spPr>
        <p:txBody>
          <a:bodyPr wrap="square" lIns="0" tIns="0" rIns="0" bIns="0" rtlCol="0" anchor="ctr"/>
          <a:lstStyle/>
          <a:p>
            <a:pPr algn="ctr" indent="0" marL="0">
              <a:buNone/>
            </a:pPr>
            <a:r>
              <a:rPr lang="en-US" sz="4000" b="1" dirty="0">
                <a:solidFill>
                  <a:srgbClr val="00FFA3"/>
                </a:solidFill>
                <a:latin typeface="Calibri" pitchFamily="34" charset="0"/>
                <a:ea typeface="Calibri" pitchFamily="34" charset="-122"/>
                <a:cs typeface="Calibri" pitchFamily="34" charset="-120"/>
              </a:rPr>
              <a:t>100%</a:t>
            </a:r>
            <a:endParaRPr lang="en-US" sz="4000" dirty="0"/>
          </a:p>
        </p:txBody>
      </p:sp>
      <p:sp>
        <p:nvSpPr>
          <p:cNvPr id="23" name="Text 21"/>
          <p:cNvSpPr/>
          <p:nvPr/>
        </p:nvSpPr>
        <p:spPr>
          <a:xfrm>
            <a:off x="8321040" y="5212080"/>
            <a:ext cx="274320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open source</a:t>
            </a:r>
            <a:endParaRPr lang="en-US" sz="1200" dirty="0"/>
          </a:p>
          <a:p>
            <a:pPr algn="ctr" indent="0" marL="0">
              <a:buNone/>
            </a:pPr>
            <a:r>
              <a:rPr lang="en-US" sz="1200" dirty="0">
                <a:solidFill>
                  <a:srgbClr val="7DA395"/>
                </a:solidFill>
                <a:latin typeface="Calibri" pitchFamily="34" charset="0"/>
                <a:ea typeface="Calibri" pitchFamily="34" charset="-122"/>
                <a:cs typeface="Calibri" pitchFamily="34" charset="-120"/>
              </a:rPr>
              <a:t>github.com/SewnRetirement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5</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Riding the strongest trend in crypto</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Tokenized RWA market value on-chain</a:t>
            </a:r>
            <a:endParaRPr lang="en-US" sz="1400" dirty="0"/>
          </a:p>
        </p:txBody>
      </p:sp>
      <p:graphicFrame>
        <p:nvGraphicFramePr>
          <p:cNvPr id="6" name="Chart 0" descr=""/>
          <p:cNvGraphicFramePr/>
          <p:nvPr/>
        </p:nvGraphicFramePr>
        <p:xfrm>
          <a:off x="548640" y="146304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463040"/>
            <a:ext cx="3840480" cy="4480560"/>
          </a:xfrm>
          <a:prstGeom prst="roundRect">
            <a:avLst>
              <a:gd name="adj" fmla="val 2857"/>
            </a:avLst>
          </a:prstGeom>
          <a:solidFill>
            <a:srgbClr val="0C1410"/>
          </a:solidFill>
          <a:ln w="12700">
            <a:solidFill>
              <a:srgbClr val="1C3229"/>
            </a:solidFill>
            <a:prstDash val="solid"/>
          </a:ln>
        </p:spPr>
      </p:sp>
      <p:sp>
        <p:nvSpPr>
          <p:cNvPr id="8" name="Text 5"/>
          <p:cNvSpPr/>
          <p:nvPr/>
        </p:nvSpPr>
        <p:spPr>
          <a:xfrm>
            <a:off x="8046720" y="1691640"/>
            <a:ext cx="3291840" cy="365760"/>
          </a:xfrm>
          <a:prstGeom prst="rect">
            <a:avLst/>
          </a:prstGeom>
          <a:noFill/>
          <a:ln/>
        </p:spPr>
        <p:txBody>
          <a:bodyPr wrap="square" lIns="0" tIns="0" rIns="0" bIns="0" rtlCol="0" anchor="ctr"/>
          <a:lstStyle/>
          <a:p>
            <a:pPr indent="0" marL="0">
              <a:buNone/>
            </a:pPr>
            <a:r>
              <a:rPr lang="en-US" sz="1600" b="1" dirty="0">
                <a:solidFill>
                  <a:srgbClr val="00FFA3"/>
                </a:solidFill>
                <a:latin typeface="Calibri" pitchFamily="34" charset="0"/>
                <a:ea typeface="Calibri" pitchFamily="34" charset="-122"/>
                <a:cs typeface="Calibri" pitchFamily="34" charset="-120"/>
              </a:rPr>
              <a:t>Why now</a:t>
            </a:r>
            <a:endParaRPr lang="en-US" sz="1600" dirty="0"/>
          </a:p>
        </p:txBody>
      </p:sp>
      <p:sp>
        <p:nvSpPr>
          <p:cNvPr id="9" name="Text 6"/>
          <p:cNvSpPr/>
          <p:nvPr/>
        </p:nvSpPr>
        <p:spPr>
          <a:xfrm>
            <a:off x="8046720" y="2148840"/>
            <a:ext cx="3383280" cy="356616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BlackRock, Franklin Templeton and Ondo are live on-chain — BUIDL alone passed $2.5B</a:t>
            </a:r>
            <a:endParaRPr lang="en-US" sz="1300" dirty="0"/>
          </a:p>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Solana RWA value is accelerating, with no compliance layer on the chain yet</a:t>
            </a:r>
            <a:endParaRPr lang="en-US" sz="1300" dirty="0"/>
          </a:p>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MiCA (EU) and maturing US rules make compliant rails a requirement, not a feature</a:t>
            </a:r>
            <a:endParaRPr lang="en-US" sz="1300" dirty="0"/>
          </a:p>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Institutions want DeFi yield on their RWA holdings — someone must bridge 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6</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Recurring revenue, not just flow</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A fee on assets held, not only on assets moved</a:t>
            </a:r>
            <a:endParaRPr lang="en-US" sz="1400" dirty="0"/>
          </a:p>
        </p:txBody>
      </p:sp>
      <p:sp>
        <p:nvSpPr>
          <p:cNvPr id="6" name="Shape 4"/>
          <p:cNvSpPr/>
          <p:nvPr/>
        </p:nvSpPr>
        <p:spPr>
          <a:xfrm>
            <a:off x="548640" y="1554480"/>
            <a:ext cx="3566160" cy="2194560"/>
          </a:xfrm>
          <a:prstGeom prst="roundRect">
            <a:avLst>
              <a:gd name="adj" fmla="val 5000"/>
            </a:avLst>
          </a:prstGeom>
          <a:solidFill>
            <a:srgbClr val="0C1410"/>
          </a:solidFill>
          <a:ln w="12700">
            <a:solidFill>
              <a:srgbClr val="1C3229"/>
            </a:solidFill>
            <a:prstDash val="solid"/>
          </a:ln>
        </p:spPr>
      </p:sp>
      <p:sp>
        <p:nvSpPr>
          <p:cNvPr id="7" name="Text 5"/>
          <p:cNvSpPr/>
          <p:nvPr/>
        </p:nvSpPr>
        <p:spPr>
          <a:xfrm>
            <a:off x="548640" y="1828800"/>
            <a:ext cx="3566160" cy="822960"/>
          </a:xfrm>
          <a:prstGeom prst="rect">
            <a:avLst/>
          </a:prstGeom>
          <a:noFill/>
          <a:ln/>
        </p:spPr>
        <p:txBody>
          <a:bodyPr wrap="square" lIns="0" tIns="0" rIns="0" bIns="0" rtlCol="0" anchor="ctr"/>
          <a:lstStyle/>
          <a:p>
            <a:pPr algn="ctr" indent="0" marL="0">
              <a:buNone/>
            </a:pPr>
            <a:r>
              <a:rPr lang="en-US" sz="3800" b="1" dirty="0">
                <a:solidFill>
                  <a:srgbClr val="00FFA3"/>
                </a:solidFill>
                <a:latin typeface="Calibri" pitchFamily="34" charset="0"/>
                <a:ea typeface="Calibri" pitchFamily="34" charset="-122"/>
                <a:cs typeface="Calibri" pitchFamily="34" charset="-120"/>
              </a:rPr>
              <a:t>8 bps</a:t>
            </a:r>
            <a:endParaRPr lang="en-US" sz="3800" dirty="0"/>
          </a:p>
        </p:txBody>
      </p:sp>
      <p:sp>
        <p:nvSpPr>
          <p:cNvPr id="8" name="Text 6"/>
          <p:cNvSpPr/>
          <p:nvPr/>
        </p:nvSpPr>
        <p:spPr>
          <a:xfrm>
            <a:off x="777240" y="2697480"/>
            <a:ext cx="3108960" cy="365760"/>
          </a:xfrm>
          <a:prstGeom prst="rect">
            <a:avLst/>
          </a:prstGeom>
          <a:noFill/>
          <a:ln/>
        </p:spPr>
        <p:txBody>
          <a:bodyPr wrap="square" lIns="0" tIns="0" rIns="0" bIns="0" rtlCol="0" anchor="ctr"/>
          <a:lstStyle/>
          <a:p>
            <a:pPr algn="ctr" indent="0" marL="0">
              <a:buNone/>
            </a:pPr>
            <a:r>
              <a:rPr lang="en-US" sz="1400" b="1" dirty="0">
                <a:solidFill>
                  <a:srgbClr val="EAFFF6"/>
                </a:solidFill>
                <a:latin typeface="Calibri" pitchFamily="34" charset="0"/>
                <a:ea typeface="Calibri" pitchFamily="34" charset="-122"/>
                <a:cs typeface="Calibri" pitchFamily="34" charset="-120"/>
              </a:rPr>
              <a:t>Per year on wrapped AUM</a:t>
            </a:r>
            <a:endParaRPr lang="en-US" sz="1400" dirty="0"/>
          </a:p>
        </p:txBody>
      </p:sp>
      <p:sp>
        <p:nvSpPr>
          <p:cNvPr id="9" name="Text 7"/>
          <p:cNvSpPr/>
          <p:nvPr/>
        </p:nvSpPr>
        <p:spPr>
          <a:xfrm>
            <a:off x="777240" y="3108960"/>
            <a:ext cx="3108960" cy="548640"/>
          </a:xfrm>
          <a:prstGeom prst="rect">
            <a:avLst/>
          </a:prstGeom>
          <a:noFill/>
          <a:ln/>
        </p:spPr>
        <p:txBody>
          <a:bodyPr wrap="square" lIns="0" tIns="0" rIns="0" bIns="0" rtlCol="0" anchor="ctr"/>
          <a:lstStyle/>
          <a:p>
            <a:pPr algn="ctr" indent="0" marL="0">
              <a:buNone/>
            </a:pPr>
            <a:r>
              <a:rPr lang="en-US" sz="1100" dirty="0">
                <a:solidFill>
                  <a:srgbClr val="7DA395"/>
                </a:solidFill>
                <a:latin typeface="Calibri" pitchFamily="34" charset="0"/>
                <a:ea typeface="Calibri" pitchFamily="34" charset="-122"/>
                <a:cs typeface="Calibri" pitchFamily="34" charset="-120"/>
              </a:rPr>
              <a:t>the core line — scales with assets held, not churn</a:t>
            </a:r>
            <a:endParaRPr lang="en-US" sz="1100" dirty="0"/>
          </a:p>
        </p:txBody>
      </p:sp>
      <p:sp>
        <p:nvSpPr>
          <p:cNvPr id="10" name="Shape 8"/>
          <p:cNvSpPr/>
          <p:nvPr/>
        </p:nvSpPr>
        <p:spPr>
          <a:xfrm>
            <a:off x="4315968" y="1554480"/>
            <a:ext cx="3566160" cy="2194560"/>
          </a:xfrm>
          <a:prstGeom prst="roundRect">
            <a:avLst>
              <a:gd name="adj" fmla="val 5000"/>
            </a:avLst>
          </a:prstGeom>
          <a:solidFill>
            <a:srgbClr val="0C1410"/>
          </a:solidFill>
          <a:ln w="12700">
            <a:solidFill>
              <a:srgbClr val="1C3229"/>
            </a:solidFill>
            <a:prstDash val="solid"/>
          </a:ln>
        </p:spPr>
      </p:sp>
      <p:sp>
        <p:nvSpPr>
          <p:cNvPr id="11" name="Text 9"/>
          <p:cNvSpPr/>
          <p:nvPr/>
        </p:nvSpPr>
        <p:spPr>
          <a:xfrm>
            <a:off x="4315968" y="1828800"/>
            <a:ext cx="3566160" cy="822960"/>
          </a:xfrm>
          <a:prstGeom prst="rect">
            <a:avLst/>
          </a:prstGeom>
          <a:noFill/>
          <a:ln/>
        </p:spPr>
        <p:txBody>
          <a:bodyPr wrap="square" lIns="0" tIns="0" rIns="0" bIns="0" rtlCol="0" anchor="ctr"/>
          <a:lstStyle/>
          <a:p>
            <a:pPr algn="ctr" indent="0" marL="0">
              <a:buNone/>
            </a:pPr>
            <a:r>
              <a:rPr lang="en-US" sz="3800" b="1" dirty="0">
                <a:solidFill>
                  <a:srgbClr val="00FFA3"/>
                </a:solidFill>
                <a:latin typeface="Calibri" pitchFamily="34" charset="0"/>
                <a:ea typeface="Calibri" pitchFamily="34" charset="-122"/>
                <a:cs typeface="Calibri" pitchFamily="34" charset="-120"/>
              </a:rPr>
              <a:t>0.10%</a:t>
            </a:r>
            <a:endParaRPr lang="en-US" sz="3800" dirty="0"/>
          </a:p>
        </p:txBody>
      </p:sp>
      <p:sp>
        <p:nvSpPr>
          <p:cNvPr id="12" name="Text 10"/>
          <p:cNvSpPr/>
          <p:nvPr/>
        </p:nvSpPr>
        <p:spPr>
          <a:xfrm>
            <a:off x="4544568" y="2697480"/>
            <a:ext cx="3108960" cy="365760"/>
          </a:xfrm>
          <a:prstGeom prst="rect">
            <a:avLst/>
          </a:prstGeom>
          <a:noFill/>
          <a:ln/>
        </p:spPr>
        <p:txBody>
          <a:bodyPr wrap="square" lIns="0" tIns="0" rIns="0" bIns="0" rtlCol="0" anchor="ctr"/>
          <a:lstStyle/>
          <a:p>
            <a:pPr algn="ctr" indent="0" marL="0">
              <a:buNone/>
            </a:pPr>
            <a:r>
              <a:rPr lang="en-US" sz="1400" b="1" dirty="0">
                <a:solidFill>
                  <a:srgbClr val="EAFFF6"/>
                </a:solidFill>
                <a:latin typeface="Calibri" pitchFamily="34" charset="0"/>
                <a:ea typeface="Calibri" pitchFamily="34" charset="-122"/>
                <a:cs typeface="Calibri" pitchFamily="34" charset="-120"/>
              </a:rPr>
              <a:t>Wrap / unwrap</a:t>
            </a:r>
            <a:endParaRPr lang="en-US" sz="1400" dirty="0"/>
          </a:p>
        </p:txBody>
      </p:sp>
      <p:sp>
        <p:nvSpPr>
          <p:cNvPr id="13" name="Text 11"/>
          <p:cNvSpPr/>
          <p:nvPr/>
        </p:nvSpPr>
        <p:spPr>
          <a:xfrm>
            <a:off x="4544568" y="3108960"/>
            <a:ext cx="3108960" cy="548640"/>
          </a:xfrm>
          <a:prstGeom prst="rect">
            <a:avLst/>
          </a:prstGeom>
          <a:noFill/>
          <a:ln/>
        </p:spPr>
        <p:txBody>
          <a:bodyPr wrap="square" lIns="0" tIns="0" rIns="0" bIns="0" rtlCol="0" anchor="ctr"/>
          <a:lstStyle/>
          <a:p>
            <a:pPr algn="ctr" indent="0" marL="0">
              <a:buNone/>
            </a:pPr>
            <a:r>
              <a:rPr lang="en-US" sz="1100" dirty="0">
                <a:solidFill>
                  <a:srgbClr val="7DA395"/>
                </a:solidFill>
                <a:latin typeface="Calibri" pitchFamily="34" charset="0"/>
                <a:ea typeface="Calibri" pitchFamily="34" charset="-122"/>
                <a:cs typeface="Calibri" pitchFamily="34" charset="-120"/>
              </a:rPr>
              <a:t>each way, on assets entering or leaving the vault</a:t>
            </a:r>
            <a:endParaRPr lang="en-US" sz="1100" dirty="0"/>
          </a:p>
        </p:txBody>
      </p:sp>
      <p:sp>
        <p:nvSpPr>
          <p:cNvPr id="14" name="Shape 12"/>
          <p:cNvSpPr/>
          <p:nvPr/>
        </p:nvSpPr>
        <p:spPr>
          <a:xfrm>
            <a:off x="8083296" y="1554480"/>
            <a:ext cx="3566160" cy="2194560"/>
          </a:xfrm>
          <a:prstGeom prst="roundRect">
            <a:avLst>
              <a:gd name="adj" fmla="val 5000"/>
            </a:avLst>
          </a:prstGeom>
          <a:solidFill>
            <a:srgbClr val="0C1410"/>
          </a:solidFill>
          <a:ln w="12700">
            <a:solidFill>
              <a:srgbClr val="1C3229"/>
            </a:solidFill>
            <a:prstDash val="solid"/>
          </a:ln>
        </p:spPr>
      </p:sp>
      <p:sp>
        <p:nvSpPr>
          <p:cNvPr id="15" name="Text 13"/>
          <p:cNvSpPr/>
          <p:nvPr/>
        </p:nvSpPr>
        <p:spPr>
          <a:xfrm>
            <a:off x="8083296" y="1828800"/>
            <a:ext cx="3566160" cy="822960"/>
          </a:xfrm>
          <a:prstGeom prst="rect">
            <a:avLst/>
          </a:prstGeom>
          <a:noFill/>
          <a:ln/>
        </p:spPr>
        <p:txBody>
          <a:bodyPr wrap="square" lIns="0" tIns="0" rIns="0" bIns="0" rtlCol="0" anchor="ctr"/>
          <a:lstStyle/>
          <a:p>
            <a:pPr algn="ctr" indent="0" marL="0">
              <a:buNone/>
            </a:pPr>
            <a:r>
              <a:rPr lang="en-US" sz="3800" b="1" dirty="0">
                <a:solidFill>
                  <a:srgbClr val="00FFA3"/>
                </a:solidFill>
                <a:latin typeface="Calibri" pitchFamily="34" charset="0"/>
                <a:ea typeface="Calibri" pitchFamily="34" charset="-122"/>
                <a:cs typeface="Calibri" pitchFamily="34" charset="-120"/>
              </a:rPr>
              <a:t>Per venue</a:t>
            </a:r>
            <a:endParaRPr lang="en-US" sz="3800" dirty="0"/>
          </a:p>
        </p:txBody>
      </p:sp>
      <p:sp>
        <p:nvSpPr>
          <p:cNvPr id="16" name="Text 14"/>
          <p:cNvSpPr/>
          <p:nvPr/>
        </p:nvSpPr>
        <p:spPr>
          <a:xfrm>
            <a:off x="8311896" y="2697480"/>
            <a:ext cx="3108960" cy="365760"/>
          </a:xfrm>
          <a:prstGeom prst="rect">
            <a:avLst/>
          </a:prstGeom>
          <a:noFill/>
          <a:ln/>
        </p:spPr>
        <p:txBody>
          <a:bodyPr wrap="square" lIns="0" tIns="0" rIns="0" bIns="0" rtlCol="0" anchor="ctr"/>
          <a:lstStyle/>
          <a:p>
            <a:pPr algn="ctr" indent="0" marL="0">
              <a:buNone/>
            </a:pPr>
            <a:r>
              <a:rPr lang="en-US" sz="1400" b="1" dirty="0">
                <a:solidFill>
                  <a:srgbClr val="EAFFF6"/>
                </a:solidFill>
                <a:latin typeface="Calibri" pitchFamily="34" charset="0"/>
                <a:ea typeface="Calibri" pitchFamily="34" charset="-122"/>
                <a:cs typeface="Calibri" pitchFamily="34" charset="-120"/>
              </a:rPr>
              <a:t>Integration fee</a:t>
            </a:r>
            <a:endParaRPr lang="en-US" sz="1400" dirty="0"/>
          </a:p>
        </p:txBody>
      </p:sp>
      <p:sp>
        <p:nvSpPr>
          <p:cNvPr id="17" name="Text 15"/>
          <p:cNvSpPr/>
          <p:nvPr/>
        </p:nvSpPr>
        <p:spPr>
          <a:xfrm>
            <a:off x="8311896" y="3108960"/>
            <a:ext cx="3108960" cy="548640"/>
          </a:xfrm>
          <a:prstGeom prst="rect">
            <a:avLst/>
          </a:prstGeom>
          <a:noFill/>
          <a:ln/>
        </p:spPr>
        <p:txBody>
          <a:bodyPr wrap="square" lIns="0" tIns="0" rIns="0" bIns="0" rtlCol="0" anchor="ctr"/>
          <a:lstStyle/>
          <a:p>
            <a:pPr algn="ctr" indent="0" marL="0">
              <a:buNone/>
            </a:pPr>
            <a:r>
              <a:rPr lang="en-US" sz="1100" dirty="0">
                <a:solidFill>
                  <a:srgbClr val="7DA395"/>
                </a:solidFill>
                <a:latin typeface="Calibri" pitchFamily="34" charset="0"/>
                <a:ea typeface="Calibri" pitchFamily="34" charset="-122"/>
                <a:cs typeface="Calibri" pitchFamily="34" charset="-120"/>
              </a:rPr>
              <a:t>every pool holding pTokens needs a credential</a:t>
            </a:r>
            <a:endParaRPr lang="en-US" sz="1100" dirty="0"/>
          </a:p>
        </p:txBody>
      </p:sp>
      <p:sp>
        <p:nvSpPr>
          <p:cNvPr id="18" name="Text 16"/>
          <p:cNvSpPr/>
          <p:nvPr/>
        </p:nvSpPr>
        <p:spPr>
          <a:xfrm>
            <a:off x="548640" y="3886200"/>
            <a:ext cx="11109960" cy="365760"/>
          </a:xfrm>
          <a:prstGeom prst="rect">
            <a:avLst/>
          </a:prstGeom>
          <a:noFill/>
          <a:ln/>
        </p:spPr>
        <p:txBody>
          <a:bodyPr wrap="square" lIns="0" tIns="0" rIns="0" bIns="0" rtlCol="0" anchor="ctr"/>
          <a:lstStyle/>
          <a:p>
            <a:pPr indent="0" marL="0">
              <a:buNone/>
            </a:pPr>
            <a:r>
              <a:rPr lang="en-US" sz="1200" dirty="0">
                <a:solidFill>
                  <a:srgbClr val="7DA395"/>
                </a:solidFill>
                <a:latin typeface="Calibri" pitchFamily="34" charset="0"/>
                <a:ea typeface="Calibri" pitchFamily="34" charset="-122"/>
                <a:cs typeface="Calibri" pitchFamily="34" charset="-120"/>
              </a:rPr>
              <a:t>Ondo charges 15 bps a year for tokenization and compliance, on top of BlackRock's 20 bps for BUIDL. Passage asks a fraction of that — and makes the issuer's asset usable across DeFi.</a:t>
            </a:r>
            <a:endParaRPr lang="en-US" sz="1200" dirty="0"/>
          </a:p>
        </p:txBody>
      </p:sp>
      <p:sp>
        <p:nvSpPr>
          <p:cNvPr id="19" name="Text 17"/>
          <p:cNvSpPr/>
          <p:nvPr/>
        </p:nvSpPr>
        <p:spPr>
          <a:xfrm>
            <a:off x="548640" y="4343400"/>
            <a:ext cx="10972800" cy="365760"/>
          </a:xfrm>
          <a:prstGeom prst="rect">
            <a:avLst/>
          </a:prstGeom>
          <a:noFill/>
          <a:ln/>
        </p:spPr>
        <p:txBody>
          <a:bodyPr wrap="square" lIns="0" tIns="0" rIns="0" bIns="0" rtlCol="0" anchor="ctr"/>
          <a:lstStyle/>
          <a:p>
            <a:pPr indent="0" marL="0">
              <a:buNone/>
            </a:pPr>
            <a:r>
              <a:rPr lang="en-US" sz="1400" b="1" dirty="0">
                <a:solidFill>
                  <a:srgbClr val="EAFFF6"/>
                </a:solidFill>
                <a:latin typeface="Calibri" pitchFamily="34" charset="0"/>
                <a:ea typeface="Calibri" pitchFamily="34" charset="-122"/>
                <a:cs typeface="Calibri" pitchFamily="34" charset="-120"/>
              </a:rPr>
              <a:t>Annual protocol revenue by assets wrapped</a:t>
            </a:r>
            <a:endParaRPr lang="en-US" sz="1400" dirty="0"/>
          </a:p>
        </p:txBody>
      </p:sp>
      <p:graphicFrame>
        <p:nvGraphicFramePr>
          <p:cNvPr id="20" name="Chart 0" descr=""/>
          <p:cNvGraphicFramePr/>
          <p:nvPr/>
        </p:nvGraphicFramePr>
        <p:xfrm>
          <a:off x="548640" y="4754880"/>
          <a:ext cx="11064240" cy="150876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p:nvPr/>
        </p:nvSpPr>
        <p:spPr>
          <a:xfrm>
            <a:off x="548640" y="6263640"/>
            <a:ext cx="11064240" cy="274320"/>
          </a:xfrm>
          <a:prstGeom prst="rect">
            <a:avLst/>
          </a:prstGeom>
          <a:noFill/>
          <a:ln/>
        </p:spPr>
        <p:txBody>
          <a:bodyPr wrap="square" lIns="0" tIns="0" rIns="0" bIns="0" rtlCol="0" anchor="ctr"/>
          <a:lstStyle/>
          <a:p>
            <a:pPr indent="0" marL="0">
              <a:buNone/>
            </a:pPr>
            <a:r>
              <a:rPr lang="en-US" sz="900" i="1" dirty="0">
                <a:solidFill>
                  <a:srgbClr val="7DA395"/>
                </a:solidFill>
                <a:latin typeface="Calibri" pitchFamily="34" charset="0"/>
                <a:ea typeface="Calibri" pitchFamily="34" charset="-122"/>
                <a:cs typeface="Calibri" pitchFamily="34" charset="-120"/>
              </a:rPr>
              <a:t>Assumes 8 bps a year on wrapped assets and 50% annual turnover — RWA holders hold for years, so we do not model high churn.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7</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$PASS — launched the credible way</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Futarchy launch on MetaDAO</a:t>
            </a:r>
            <a:endParaRPr lang="en-US" sz="1400" dirty="0"/>
          </a:p>
        </p:txBody>
      </p:sp>
      <p:sp>
        <p:nvSpPr>
          <p:cNvPr id="6" name="Shape 4"/>
          <p:cNvSpPr/>
          <p:nvPr/>
        </p:nvSpPr>
        <p:spPr>
          <a:xfrm>
            <a:off x="548640" y="1508760"/>
            <a:ext cx="5394960" cy="2377440"/>
          </a:xfrm>
          <a:prstGeom prst="roundRect">
            <a:avLst>
              <a:gd name="adj" fmla="val 4615"/>
            </a:avLst>
          </a:prstGeom>
          <a:solidFill>
            <a:srgbClr val="0C1410"/>
          </a:solidFill>
          <a:ln w="12700">
            <a:solidFill>
              <a:srgbClr val="1C3229"/>
            </a:solidFill>
            <a:prstDash val="solid"/>
          </a:ln>
        </p:spPr>
      </p:sp>
      <p:sp>
        <p:nvSpPr>
          <p:cNvPr id="7" name="Text 5"/>
          <p:cNvSpPr/>
          <p:nvPr/>
        </p:nvSpPr>
        <p:spPr>
          <a:xfrm>
            <a:off x="822960" y="1691640"/>
            <a:ext cx="4846320" cy="365760"/>
          </a:xfrm>
          <a:prstGeom prst="rect">
            <a:avLst/>
          </a:prstGeom>
          <a:noFill/>
          <a:ln/>
        </p:spPr>
        <p:txBody>
          <a:bodyPr wrap="square" lIns="0" tIns="0" rIns="0" bIns="0" rtlCol="0" anchor="ctr"/>
          <a:lstStyle/>
          <a:p>
            <a:pPr indent="0" marL="0">
              <a:buNone/>
            </a:pPr>
            <a:r>
              <a:rPr lang="en-US" sz="1500" b="1" dirty="0">
                <a:solidFill>
                  <a:srgbClr val="00FFA3"/>
                </a:solidFill>
                <a:latin typeface="Calibri" pitchFamily="34" charset="0"/>
                <a:ea typeface="Calibri" pitchFamily="34" charset="-122"/>
                <a:cs typeface="Calibri" pitchFamily="34" charset="-120"/>
              </a:rPr>
              <a:t>Fair, high-float launch</a:t>
            </a:r>
            <a:endParaRPr lang="en-US" sz="1500" dirty="0"/>
          </a:p>
        </p:txBody>
      </p:sp>
      <p:sp>
        <p:nvSpPr>
          <p:cNvPr id="8" name="Text 6"/>
          <p:cNvSpPr/>
          <p:nvPr/>
        </p:nvSpPr>
        <p:spPr>
          <a:xfrm>
            <a:off x="822960" y="2103120"/>
            <a:ext cx="4846320" cy="16002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10M $PASS distributed via MetaDAO ICO — no hidden allocations, no VC discounts</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Min $1.8M, capped at $4M — oversubscription refunded pro-rata; treasury governed by futarchy markets, not the team</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20% of raise + 2.9M tokens seed protocol-owned liquidity</a:t>
            </a:r>
            <a:endParaRPr lang="en-US" sz="1250" dirty="0"/>
          </a:p>
        </p:txBody>
      </p:sp>
      <p:sp>
        <p:nvSpPr>
          <p:cNvPr id="9" name="Shape 7"/>
          <p:cNvSpPr/>
          <p:nvPr/>
        </p:nvSpPr>
        <p:spPr>
          <a:xfrm>
            <a:off x="6263640" y="1508760"/>
            <a:ext cx="5394960" cy="2377440"/>
          </a:xfrm>
          <a:prstGeom prst="roundRect">
            <a:avLst>
              <a:gd name="adj" fmla="val 4615"/>
            </a:avLst>
          </a:prstGeom>
          <a:solidFill>
            <a:srgbClr val="0C1410"/>
          </a:solidFill>
          <a:ln w="12700">
            <a:solidFill>
              <a:srgbClr val="1C3229"/>
            </a:solidFill>
            <a:prstDash val="solid"/>
          </a:ln>
        </p:spPr>
      </p:sp>
      <p:sp>
        <p:nvSpPr>
          <p:cNvPr id="10" name="Text 8"/>
          <p:cNvSpPr/>
          <p:nvPr/>
        </p:nvSpPr>
        <p:spPr>
          <a:xfrm>
            <a:off x="6537960" y="1691640"/>
            <a:ext cx="4846320" cy="365760"/>
          </a:xfrm>
          <a:prstGeom prst="rect">
            <a:avLst/>
          </a:prstGeom>
          <a:noFill/>
          <a:ln/>
        </p:spPr>
        <p:txBody>
          <a:bodyPr wrap="square" lIns="0" tIns="0" rIns="0" bIns="0" rtlCol="0" anchor="ctr"/>
          <a:lstStyle/>
          <a:p>
            <a:pPr indent="0" marL="0">
              <a:buNone/>
            </a:pPr>
            <a:r>
              <a:rPr lang="en-US" sz="1500" b="1" dirty="0">
                <a:solidFill>
                  <a:srgbClr val="00FFA3"/>
                </a:solidFill>
                <a:latin typeface="Calibri" pitchFamily="34" charset="0"/>
                <a:ea typeface="Calibri" pitchFamily="34" charset="-122"/>
                <a:cs typeface="Calibri" pitchFamily="34" charset="-120"/>
              </a:rPr>
              <a:t>Aligned team incentives</a:t>
            </a:r>
            <a:endParaRPr lang="en-US" sz="1500" dirty="0"/>
          </a:p>
        </p:txBody>
      </p:sp>
      <p:sp>
        <p:nvSpPr>
          <p:cNvPr id="11" name="Text 9"/>
          <p:cNvSpPr/>
          <p:nvPr/>
        </p:nvSpPr>
        <p:spPr>
          <a:xfrm>
            <a:off x="6537960" y="2103120"/>
            <a:ext cx="4846320" cy="16002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Founder: $16k/mo salary + milestone bonuses capped at $1M — paid in treasury USDC, zero token sell pressure</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Performance tokens (10%) unlock only at 2x / 4x / 8x above ICO price, 18-month vesting</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Every treasury spend requires market approval — funds cannot be drained</a:t>
            </a:r>
            <a:endParaRPr lang="en-US" sz="1250" dirty="0"/>
          </a:p>
        </p:txBody>
      </p:sp>
      <p:sp>
        <p:nvSpPr>
          <p:cNvPr id="12" name="Shape 10"/>
          <p:cNvSpPr/>
          <p:nvPr/>
        </p:nvSpPr>
        <p:spPr>
          <a:xfrm>
            <a:off x="548640" y="4069080"/>
            <a:ext cx="5394960" cy="1920240"/>
          </a:xfrm>
          <a:prstGeom prst="roundRect">
            <a:avLst>
              <a:gd name="adj" fmla="val 5714"/>
            </a:avLst>
          </a:prstGeom>
          <a:solidFill>
            <a:srgbClr val="0C1410"/>
          </a:solidFill>
          <a:ln w="12700">
            <a:solidFill>
              <a:srgbClr val="1C3229"/>
            </a:solidFill>
            <a:prstDash val="solid"/>
          </a:ln>
        </p:spPr>
      </p:sp>
      <p:sp>
        <p:nvSpPr>
          <p:cNvPr id="13" name="Text 11"/>
          <p:cNvSpPr/>
          <p:nvPr/>
        </p:nvSpPr>
        <p:spPr>
          <a:xfrm>
            <a:off x="822960" y="4251960"/>
            <a:ext cx="4846320" cy="365760"/>
          </a:xfrm>
          <a:prstGeom prst="rect">
            <a:avLst/>
          </a:prstGeom>
          <a:noFill/>
          <a:ln/>
        </p:spPr>
        <p:txBody>
          <a:bodyPr wrap="square" lIns="0" tIns="0" rIns="0" bIns="0" rtlCol="0" anchor="ctr"/>
          <a:lstStyle/>
          <a:p>
            <a:pPr indent="0" marL="0">
              <a:buNone/>
            </a:pPr>
            <a:r>
              <a:rPr lang="en-US" sz="1500" b="1" dirty="0">
                <a:solidFill>
                  <a:srgbClr val="00FFA3"/>
                </a:solidFill>
                <a:latin typeface="Calibri" pitchFamily="34" charset="0"/>
                <a:ea typeface="Calibri" pitchFamily="34" charset="-122"/>
                <a:cs typeface="Calibri" pitchFamily="34" charset="-120"/>
              </a:rPr>
              <a:t>Why hold $PASS</a:t>
            </a:r>
            <a:endParaRPr lang="en-US" sz="1500" dirty="0"/>
          </a:p>
        </p:txBody>
      </p:sp>
      <p:sp>
        <p:nvSpPr>
          <p:cNvPr id="14" name="Text 12"/>
          <p:cNvSpPr/>
          <p:nvPr/>
        </p:nvSpPr>
        <p:spPr>
          <a:xfrm>
            <a:off x="822960" y="4663440"/>
            <a:ext cx="4846320" cy="11430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A claim on the treasury: the raise stays on-chain and holders can vote it back if confidence drops</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Staking is a job — stakers underwrite the credential registry and are slashed if it fails, earning half of protocol revenue</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Issuers who stake pay a lower fee: our customers hold the token because it saves them money</a:t>
            </a:r>
            <a:endParaRPr lang="en-US" sz="1250" dirty="0"/>
          </a:p>
        </p:txBody>
      </p:sp>
      <p:sp>
        <p:nvSpPr>
          <p:cNvPr id="15" name="Shape 13"/>
          <p:cNvSpPr/>
          <p:nvPr/>
        </p:nvSpPr>
        <p:spPr>
          <a:xfrm>
            <a:off x="6263640" y="4069080"/>
            <a:ext cx="5394960" cy="1920240"/>
          </a:xfrm>
          <a:prstGeom prst="roundRect">
            <a:avLst>
              <a:gd name="adj" fmla="val 5714"/>
            </a:avLst>
          </a:prstGeom>
          <a:solidFill>
            <a:srgbClr val="0C1410"/>
          </a:solidFill>
          <a:ln w="12700">
            <a:solidFill>
              <a:srgbClr val="1C3229"/>
            </a:solidFill>
            <a:prstDash val="solid"/>
          </a:ln>
        </p:spPr>
      </p:sp>
      <p:sp>
        <p:nvSpPr>
          <p:cNvPr id="16" name="Text 14"/>
          <p:cNvSpPr/>
          <p:nvPr/>
        </p:nvSpPr>
        <p:spPr>
          <a:xfrm>
            <a:off x="6537960" y="4251960"/>
            <a:ext cx="4846320" cy="365760"/>
          </a:xfrm>
          <a:prstGeom prst="rect">
            <a:avLst/>
          </a:prstGeom>
          <a:noFill/>
          <a:ln/>
        </p:spPr>
        <p:txBody>
          <a:bodyPr wrap="square" lIns="0" tIns="0" rIns="0" bIns="0" rtlCol="0" anchor="ctr"/>
          <a:lstStyle/>
          <a:p>
            <a:pPr indent="0" marL="0">
              <a:buNone/>
            </a:pPr>
            <a:r>
              <a:rPr lang="en-US" sz="1500" b="1" dirty="0">
                <a:solidFill>
                  <a:srgbClr val="00FFA3"/>
                </a:solidFill>
                <a:latin typeface="Calibri" pitchFamily="34" charset="0"/>
                <a:ea typeface="Calibri" pitchFamily="34" charset="-122"/>
                <a:cs typeface="Calibri" pitchFamily="34" charset="-120"/>
              </a:rPr>
              <a:t>Buyback-and-burn</a:t>
            </a:r>
            <a:endParaRPr lang="en-US" sz="1500" dirty="0"/>
          </a:p>
        </p:txBody>
      </p:sp>
      <p:sp>
        <p:nvSpPr>
          <p:cNvPr id="17" name="Text 15"/>
          <p:cNvSpPr/>
          <p:nvPr/>
        </p:nvSpPr>
        <p:spPr>
          <a:xfrm>
            <a:off x="6537960" y="4663440"/>
            <a:ext cx="4846320" cy="11430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The other half of revenue buys $PASS on the market and burns it</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Automatic and permissionless — anyone can trigger it, so it never depends on the team</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Continuous and rate-limited, not one large scheduled buy that bots can front-run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8</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Use of funds</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Pre-approved operating budget — every extra spend needs market approval</a:t>
            </a:r>
            <a:endParaRPr lang="en-US" sz="1400" dirty="0"/>
          </a:p>
        </p:txBody>
      </p:sp>
      <p:graphicFrame>
        <p:nvGraphicFramePr>
          <p:cNvPr id="6" name="Chart 0" descr=""/>
          <p:cNvGraphicFramePr/>
          <p:nvPr/>
        </p:nvGraphicFramePr>
        <p:xfrm>
          <a:off x="548640" y="146304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89520" y="1463040"/>
            <a:ext cx="4023360" cy="4480560"/>
          </a:xfrm>
          <a:prstGeom prst="roundRect">
            <a:avLst>
              <a:gd name="adj" fmla="val 2727"/>
            </a:avLst>
          </a:prstGeom>
          <a:solidFill>
            <a:srgbClr val="0C1410"/>
          </a:solidFill>
          <a:ln w="12700">
            <a:solidFill>
              <a:srgbClr val="1C3229"/>
            </a:solidFill>
            <a:prstDash val="solid"/>
          </a:ln>
        </p:spPr>
      </p:sp>
      <p:sp>
        <p:nvSpPr>
          <p:cNvPr id="8" name="Text 5"/>
          <p:cNvSpPr/>
          <p:nvPr/>
        </p:nvSpPr>
        <p:spPr>
          <a:xfrm>
            <a:off x="7863840" y="1691640"/>
            <a:ext cx="3474720" cy="365760"/>
          </a:xfrm>
          <a:prstGeom prst="rect">
            <a:avLst/>
          </a:prstGeom>
          <a:noFill/>
          <a:ln/>
        </p:spPr>
        <p:txBody>
          <a:bodyPr wrap="square" lIns="0" tIns="0" rIns="0" bIns="0" rtlCol="0" anchor="ctr"/>
          <a:lstStyle/>
          <a:p>
            <a:pPr indent="0" marL="0">
              <a:buNone/>
            </a:pPr>
            <a:r>
              <a:rPr lang="en-US" sz="1600" b="1" dirty="0">
                <a:solidFill>
                  <a:srgbClr val="00FFA3"/>
                </a:solidFill>
                <a:latin typeface="Calibri" pitchFamily="34" charset="0"/>
                <a:ea typeface="Calibri" pitchFamily="34" charset="-122"/>
                <a:cs typeface="Calibri" pitchFamily="34" charset="-120"/>
              </a:rPr>
              <a:t>The math</a:t>
            </a:r>
            <a:endParaRPr lang="en-US" sz="1600" dirty="0"/>
          </a:p>
        </p:txBody>
      </p:sp>
      <p:sp>
        <p:nvSpPr>
          <p:cNvPr id="9" name="Text 6"/>
          <p:cNvSpPr/>
          <p:nvPr/>
        </p:nvSpPr>
        <p:spPr>
          <a:xfrm>
            <a:off x="7863840" y="2148840"/>
            <a:ext cx="3566160" cy="356616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~$50k/month operating budget</a:t>
            </a:r>
            <a:endParaRPr lang="en-US" sz="1300" dirty="0"/>
          </a:p>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$165k one-time: audit, legal/MiCA, entity, listings, bug bounty</a:t>
            </a:r>
            <a:endParaRPr lang="en-US" sz="1300" dirty="0"/>
          </a:p>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18 months x $50k + $165k = ~$1.07M</a:t>
            </a:r>
            <a:endParaRPr lang="en-US" sz="1300" dirty="0"/>
          </a:p>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$1.8M raise - 20% to liquidity pools = $1.44M treasury</a:t>
            </a:r>
            <a:endParaRPr lang="en-US" sz="1300" dirty="0"/>
          </a:p>
          <a:p>
            <a:pPr marL="342900" indent="-342900">
              <a:spcAft>
                <a:spcPts val="1000"/>
              </a:spcAft>
              <a:buSzPct val="100000"/>
              <a:buChar char="•"/>
            </a:pPr>
            <a:r>
              <a:rPr lang="en-US" sz="1300" dirty="0">
                <a:solidFill>
                  <a:srgbClr val="00FFA3"/>
                </a:solidFill>
                <a:latin typeface="Calibri" pitchFamily="34" charset="0"/>
                <a:ea typeface="Calibri" pitchFamily="34" charset="-122"/>
                <a:cs typeface="Calibri" pitchFamily="34" charset="-120"/>
              </a:rPr>
              <a:t>~$375k buffer on top of the full budget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9</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Roadmap</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From devnet to the RWA liquidity standard</a:t>
            </a:r>
            <a:endParaRPr lang="en-US" sz="1400" dirty="0"/>
          </a:p>
        </p:txBody>
      </p:sp>
      <p:sp>
        <p:nvSpPr>
          <p:cNvPr id="6" name="Shape 4"/>
          <p:cNvSpPr/>
          <p:nvPr/>
        </p:nvSpPr>
        <p:spPr>
          <a:xfrm>
            <a:off x="548640" y="1737360"/>
            <a:ext cx="2606040" cy="3566160"/>
          </a:xfrm>
          <a:prstGeom prst="roundRect">
            <a:avLst>
              <a:gd name="adj" fmla="val 4211"/>
            </a:avLst>
          </a:prstGeom>
          <a:solidFill>
            <a:srgbClr val="122019"/>
          </a:solidFill>
          <a:ln w="19050">
            <a:solidFill>
              <a:srgbClr val="00FFA3"/>
            </a:solidFill>
            <a:prstDash val="solid"/>
          </a:ln>
        </p:spPr>
      </p:sp>
      <p:sp>
        <p:nvSpPr>
          <p:cNvPr id="7" name="Text 5"/>
          <p:cNvSpPr/>
          <p:nvPr/>
        </p:nvSpPr>
        <p:spPr>
          <a:xfrm>
            <a:off x="777240" y="1965960"/>
            <a:ext cx="2148840" cy="365760"/>
          </a:xfrm>
          <a:prstGeom prst="rect">
            <a:avLst/>
          </a:prstGeom>
          <a:noFill/>
          <a:ln/>
        </p:spPr>
        <p:txBody>
          <a:bodyPr wrap="square" lIns="0" tIns="0" rIns="0" bIns="0" rtlCol="0" anchor="ctr"/>
          <a:lstStyle/>
          <a:p>
            <a:pPr indent="0" marL="0">
              <a:buNone/>
            </a:pPr>
            <a:r>
              <a:rPr lang="en-US" sz="1500" b="1" dirty="0">
                <a:solidFill>
                  <a:srgbClr val="00FFA3"/>
                </a:solidFill>
                <a:latin typeface="Calibri" pitchFamily="34" charset="0"/>
                <a:ea typeface="Calibri" pitchFamily="34" charset="-122"/>
                <a:cs typeface="Calibri" pitchFamily="34" charset="-120"/>
              </a:rPr>
              <a:t>Now</a:t>
            </a:r>
            <a:endParaRPr lang="en-US" sz="1500" dirty="0"/>
          </a:p>
        </p:txBody>
      </p:sp>
      <p:sp>
        <p:nvSpPr>
          <p:cNvPr id="8" name="Text 6"/>
          <p:cNvSpPr/>
          <p:nvPr/>
        </p:nvSpPr>
        <p:spPr>
          <a:xfrm>
            <a:off x="777240" y="2377440"/>
            <a:ext cx="2194560" cy="274320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MVP live on devnet</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4 programs, full test suite</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Open-source repo + demo</a:t>
            </a:r>
            <a:endParaRPr lang="en-US" sz="1150" dirty="0"/>
          </a:p>
        </p:txBody>
      </p:sp>
      <p:sp>
        <p:nvSpPr>
          <p:cNvPr id="9" name="Shape 7"/>
          <p:cNvSpPr/>
          <p:nvPr/>
        </p:nvSpPr>
        <p:spPr>
          <a:xfrm>
            <a:off x="3429000" y="1737360"/>
            <a:ext cx="2606040" cy="3566160"/>
          </a:xfrm>
          <a:prstGeom prst="roundRect">
            <a:avLst>
              <a:gd name="adj" fmla="val 4211"/>
            </a:avLst>
          </a:prstGeom>
          <a:solidFill>
            <a:srgbClr val="0C1410"/>
          </a:solidFill>
          <a:ln w="12700">
            <a:solidFill>
              <a:srgbClr val="1C3229"/>
            </a:solidFill>
            <a:prstDash val="solid"/>
          </a:ln>
        </p:spPr>
      </p:sp>
      <p:sp>
        <p:nvSpPr>
          <p:cNvPr id="10" name="Text 8"/>
          <p:cNvSpPr/>
          <p:nvPr/>
        </p:nvSpPr>
        <p:spPr>
          <a:xfrm>
            <a:off x="3657600" y="1965960"/>
            <a:ext cx="2148840" cy="365760"/>
          </a:xfrm>
          <a:prstGeom prst="rect">
            <a:avLst/>
          </a:prstGeom>
          <a:noFill/>
          <a:ln/>
        </p:spPr>
        <p:txBody>
          <a:bodyPr wrap="square" lIns="0" tIns="0" rIns="0" bIns="0" rtlCol="0" anchor="ctr"/>
          <a:lstStyle/>
          <a:p>
            <a:pPr indent="0" marL="0">
              <a:buNone/>
            </a:pPr>
            <a:r>
              <a:rPr lang="en-US" sz="1500" b="1" dirty="0">
                <a:solidFill>
                  <a:srgbClr val="EAFFF6"/>
                </a:solidFill>
                <a:latin typeface="Calibri" pitchFamily="34" charset="0"/>
                <a:ea typeface="Calibri" pitchFamily="34" charset="-122"/>
                <a:cs typeface="Calibri" pitchFamily="34" charset="-120"/>
              </a:rPr>
              <a:t>Q+1</a:t>
            </a:r>
            <a:endParaRPr lang="en-US" sz="1500" dirty="0"/>
          </a:p>
        </p:txBody>
      </p:sp>
      <p:sp>
        <p:nvSpPr>
          <p:cNvPr id="11" name="Text 9"/>
          <p:cNvSpPr/>
          <p:nvPr/>
        </p:nvSpPr>
        <p:spPr>
          <a:xfrm>
            <a:off x="3657600" y="2377440"/>
            <a:ext cx="2194560" cy="274320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Security audit</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Mainnet launch</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First issuer asset live</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MetaDAO ICO</a:t>
            </a:r>
            <a:endParaRPr lang="en-US" sz="1150" dirty="0"/>
          </a:p>
        </p:txBody>
      </p:sp>
      <p:sp>
        <p:nvSpPr>
          <p:cNvPr id="12" name="Shape 10"/>
          <p:cNvSpPr/>
          <p:nvPr/>
        </p:nvSpPr>
        <p:spPr>
          <a:xfrm>
            <a:off x="6309360" y="1737360"/>
            <a:ext cx="2606040" cy="3566160"/>
          </a:xfrm>
          <a:prstGeom prst="roundRect">
            <a:avLst>
              <a:gd name="adj" fmla="val 4211"/>
            </a:avLst>
          </a:prstGeom>
          <a:solidFill>
            <a:srgbClr val="0C1410"/>
          </a:solidFill>
          <a:ln w="12700">
            <a:solidFill>
              <a:srgbClr val="1C3229"/>
            </a:solidFill>
            <a:prstDash val="solid"/>
          </a:ln>
        </p:spPr>
      </p:sp>
      <p:sp>
        <p:nvSpPr>
          <p:cNvPr id="13" name="Text 11"/>
          <p:cNvSpPr/>
          <p:nvPr/>
        </p:nvSpPr>
        <p:spPr>
          <a:xfrm>
            <a:off x="6537960" y="1965960"/>
            <a:ext cx="2148840" cy="365760"/>
          </a:xfrm>
          <a:prstGeom prst="rect">
            <a:avLst/>
          </a:prstGeom>
          <a:noFill/>
          <a:ln/>
        </p:spPr>
        <p:txBody>
          <a:bodyPr wrap="square" lIns="0" tIns="0" rIns="0" bIns="0" rtlCol="0" anchor="ctr"/>
          <a:lstStyle/>
          <a:p>
            <a:pPr indent="0" marL="0">
              <a:buNone/>
            </a:pPr>
            <a:r>
              <a:rPr lang="en-US" sz="1500" b="1" dirty="0">
                <a:solidFill>
                  <a:srgbClr val="EAFFF6"/>
                </a:solidFill>
                <a:latin typeface="Calibri" pitchFamily="34" charset="0"/>
                <a:ea typeface="Calibri" pitchFamily="34" charset="-122"/>
                <a:cs typeface="Calibri" pitchFamily="34" charset="-120"/>
              </a:rPr>
              <a:t>Q+2</a:t>
            </a:r>
            <a:endParaRPr lang="en-US" sz="1500" dirty="0"/>
          </a:p>
        </p:txBody>
      </p:sp>
      <p:sp>
        <p:nvSpPr>
          <p:cNvPr id="14" name="Text 12"/>
          <p:cNvSpPr/>
          <p:nvPr/>
        </p:nvSpPr>
        <p:spPr>
          <a:xfrm>
            <a:off x="6537960" y="2377440"/>
            <a:ext cx="2194560" cy="274320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KYC provider integration</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2–3 assets wrapped</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pToken/USDC pools live</a:t>
            </a:r>
            <a:endParaRPr lang="en-US" sz="1150" dirty="0"/>
          </a:p>
        </p:txBody>
      </p:sp>
      <p:sp>
        <p:nvSpPr>
          <p:cNvPr id="15" name="Shape 13"/>
          <p:cNvSpPr/>
          <p:nvPr/>
        </p:nvSpPr>
        <p:spPr>
          <a:xfrm>
            <a:off x="9189720" y="1737360"/>
            <a:ext cx="2606040" cy="3566160"/>
          </a:xfrm>
          <a:prstGeom prst="roundRect">
            <a:avLst>
              <a:gd name="adj" fmla="val 4211"/>
            </a:avLst>
          </a:prstGeom>
          <a:solidFill>
            <a:srgbClr val="0C1410"/>
          </a:solidFill>
          <a:ln w="12700">
            <a:solidFill>
              <a:srgbClr val="1C3229"/>
            </a:solidFill>
            <a:prstDash val="solid"/>
          </a:ln>
        </p:spPr>
      </p:sp>
      <p:sp>
        <p:nvSpPr>
          <p:cNvPr id="16" name="Text 14"/>
          <p:cNvSpPr/>
          <p:nvPr/>
        </p:nvSpPr>
        <p:spPr>
          <a:xfrm>
            <a:off x="9418320" y="1965960"/>
            <a:ext cx="2148840" cy="365760"/>
          </a:xfrm>
          <a:prstGeom prst="rect">
            <a:avLst/>
          </a:prstGeom>
          <a:noFill/>
          <a:ln/>
        </p:spPr>
        <p:txBody>
          <a:bodyPr wrap="square" lIns="0" tIns="0" rIns="0" bIns="0" rtlCol="0" anchor="ctr"/>
          <a:lstStyle/>
          <a:p>
            <a:pPr indent="0" marL="0">
              <a:buNone/>
            </a:pPr>
            <a:r>
              <a:rPr lang="en-US" sz="1500" b="1" dirty="0">
                <a:solidFill>
                  <a:srgbClr val="EAFFF6"/>
                </a:solidFill>
                <a:latin typeface="Calibri" pitchFamily="34" charset="0"/>
                <a:ea typeface="Calibri" pitchFamily="34" charset="-122"/>
                <a:cs typeface="Calibri" pitchFamily="34" charset="-120"/>
              </a:rPr>
              <a:t>Q+3/4</a:t>
            </a:r>
            <a:endParaRPr lang="en-US" sz="1500" dirty="0"/>
          </a:p>
        </p:txBody>
      </p:sp>
      <p:sp>
        <p:nvSpPr>
          <p:cNvPr id="17" name="Text 15"/>
          <p:cNvSpPr/>
          <p:nvPr/>
        </p:nvSpPr>
        <p:spPr>
          <a:xfrm>
            <a:off x="9418320" y="2377440"/>
            <a:ext cx="2194560" cy="274320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Lending collateral integrations</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$5M+ Total Value Wrapped</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zk-credentials</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CEX conversations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10</a:t>
            </a:r>
            <a:endParaRPr lang="en-US" sz="1000" dirty="0"/>
          </a:p>
        </p:txBody>
      </p:sp>
      <p:sp>
        <p:nvSpPr>
          <p:cNvPr id="4" name="Shape 2"/>
          <p:cNvSpPr/>
          <p:nvPr/>
        </p:nvSpPr>
        <p:spPr>
          <a:xfrm>
            <a:off x="4572000" y="-2560320"/>
            <a:ext cx="3108960" cy="3108960"/>
          </a:xfrm>
          <a:prstGeom prst="ellipse">
            <a:avLst/>
          </a:prstGeom>
          <a:solidFill>
            <a:srgbClr val="0D2A1E">
              <a:alpha val="80000"/>
            </a:srgbClr>
          </a:solidFill>
          <a:ln/>
        </p:spPr>
      </p:sp>
      <p:sp>
        <p:nvSpPr>
          <p:cNvPr id="5" name="Text 3"/>
          <p:cNvSpPr/>
          <p:nvPr/>
        </p:nvSpPr>
        <p:spPr>
          <a:xfrm>
            <a:off x="0" y="1371600"/>
            <a:ext cx="12188952" cy="731520"/>
          </a:xfrm>
          <a:prstGeom prst="rect">
            <a:avLst/>
          </a:prstGeom>
          <a:noFill/>
          <a:ln/>
        </p:spPr>
        <p:txBody>
          <a:bodyPr wrap="square" lIns="0" tIns="0" rIns="0" bIns="0" rtlCol="0" anchor="ctr"/>
          <a:lstStyle/>
          <a:p>
            <a:pPr algn="ctr" indent="0" marL="0">
              <a:buNone/>
            </a:pPr>
            <a:r>
              <a:rPr lang="en-US" sz="4000" b="1" dirty="0">
                <a:solidFill>
                  <a:srgbClr val="EAFFF6"/>
                </a:solidFill>
                <a:latin typeface="Calibri" pitchFamily="34" charset="0"/>
                <a:ea typeface="Calibri" pitchFamily="34" charset="-122"/>
                <a:cs typeface="Calibri" pitchFamily="34" charset="-120"/>
              </a:rPr>
              <a:t>Join the launch</a:t>
            </a:r>
            <a:endParaRPr lang="en-US" sz="4000" dirty="0"/>
          </a:p>
        </p:txBody>
      </p:sp>
      <p:sp>
        <p:nvSpPr>
          <p:cNvPr id="6" name="Text 4"/>
          <p:cNvSpPr/>
          <p:nvPr/>
        </p:nvSpPr>
        <p:spPr>
          <a:xfrm>
            <a:off x="1645920" y="2286000"/>
            <a:ext cx="8869680" cy="548640"/>
          </a:xfrm>
          <a:prstGeom prst="rect">
            <a:avLst/>
          </a:prstGeom>
          <a:noFill/>
          <a:ln/>
        </p:spPr>
        <p:txBody>
          <a:bodyPr wrap="square" lIns="0" tIns="0" rIns="0" bIns="0" rtlCol="0" anchor="ctr"/>
          <a:lstStyle/>
          <a:p>
            <a:pPr algn="ctr" indent="0" marL="0">
              <a:buNone/>
            </a:pPr>
            <a:r>
              <a:rPr lang="en-US" sz="1600" dirty="0">
                <a:solidFill>
                  <a:srgbClr val="7DA395"/>
                </a:solidFill>
                <a:latin typeface="Calibri" pitchFamily="34" charset="0"/>
                <a:ea typeface="Calibri" pitchFamily="34" charset="-122"/>
                <a:cs typeface="Calibri" pitchFamily="34" charset="-120"/>
              </a:rPr>
              <a:t>Passage is raising a minimum of $1.8M via MetaDAO to take the RWA composability layer to mainnet.</a:t>
            </a:r>
            <a:endParaRPr lang="en-US" sz="1600" dirty="0"/>
          </a:p>
        </p:txBody>
      </p:sp>
      <p:sp>
        <p:nvSpPr>
          <p:cNvPr id="7" name="Shape 5"/>
          <p:cNvSpPr/>
          <p:nvPr/>
        </p:nvSpPr>
        <p:spPr>
          <a:xfrm>
            <a:off x="548640" y="3108960"/>
            <a:ext cx="3566160" cy="1554480"/>
          </a:xfrm>
          <a:prstGeom prst="roundRect">
            <a:avLst>
              <a:gd name="adj" fmla="val 7059"/>
            </a:avLst>
          </a:prstGeom>
          <a:solidFill>
            <a:srgbClr val="0C1410"/>
          </a:solidFill>
          <a:ln w="12700">
            <a:solidFill>
              <a:srgbClr val="1C3229"/>
            </a:solidFill>
            <a:prstDash val="solid"/>
          </a:ln>
        </p:spPr>
      </p:sp>
      <p:sp>
        <p:nvSpPr>
          <p:cNvPr id="8" name="Text 6"/>
          <p:cNvSpPr/>
          <p:nvPr/>
        </p:nvSpPr>
        <p:spPr>
          <a:xfrm>
            <a:off x="548640" y="3291840"/>
            <a:ext cx="3566160" cy="640080"/>
          </a:xfrm>
          <a:prstGeom prst="rect">
            <a:avLst/>
          </a:prstGeom>
          <a:noFill/>
          <a:ln/>
        </p:spPr>
        <p:txBody>
          <a:bodyPr wrap="square" lIns="0" tIns="0" rIns="0" bIns="0" rtlCol="0" anchor="ctr"/>
          <a:lstStyle/>
          <a:p>
            <a:pPr algn="ctr" indent="0" marL="0">
              <a:buNone/>
            </a:pPr>
            <a:r>
              <a:rPr lang="en-US" sz="2800" b="1" dirty="0">
                <a:solidFill>
                  <a:srgbClr val="00FFA3"/>
                </a:solidFill>
                <a:latin typeface="Calibri" pitchFamily="34" charset="0"/>
                <a:ea typeface="Calibri" pitchFamily="34" charset="-122"/>
                <a:cs typeface="Calibri" pitchFamily="34" charset="-120"/>
              </a:rPr>
              <a:t>$1.8-4M</a:t>
            </a:r>
            <a:endParaRPr lang="en-US" sz="2800" dirty="0"/>
          </a:p>
        </p:txBody>
      </p:sp>
      <p:sp>
        <p:nvSpPr>
          <p:cNvPr id="9" name="Text 7"/>
          <p:cNvSpPr/>
          <p:nvPr/>
        </p:nvSpPr>
        <p:spPr>
          <a:xfrm>
            <a:off x="777240" y="3977640"/>
            <a:ext cx="310896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min raise to $4M cap: team, audit, legal (MiCA), integrations</a:t>
            </a:r>
            <a:endParaRPr lang="en-US" sz="1200" dirty="0"/>
          </a:p>
        </p:txBody>
      </p:sp>
      <p:sp>
        <p:nvSpPr>
          <p:cNvPr id="10" name="Shape 8"/>
          <p:cNvSpPr/>
          <p:nvPr/>
        </p:nvSpPr>
        <p:spPr>
          <a:xfrm>
            <a:off x="4315968" y="3108960"/>
            <a:ext cx="3566160" cy="1554480"/>
          </a:xfrm>
          <a:prstGeom prst="roundRect">
            <a:avLst>
              <a:gd name="adj" fmla="val 7059"/>
            </a:avLst>
          </a:prstGeom>
          <a:solidFill>
            <a:srgbClr val="0C1410"/>
          </a:solidFill>
          <a:ln w="12700">
            <a:solidFill>
              <a:srgbClr val="1C3229"/>
            </a:solidFill>
            <a:prstDash val="solid"/>
          </a:ln>
        </p:spPr>
      </p:sp>
      <p:sp>
        <p:nvSpPr>
          <p:cNvPr id="11" name="Text 9"/>
          <p:cNvSpPr/>
          <p:nvPr/>
        </p:nvSpPr>
        <p:spPr>
          <a:xfrm>
            <a:off x="4315968" y="3291840"/>
            <a:ext cx="3566160" cy="640080"/>
          </a:xfrm>
          <a:prstGeom prst="rect">
            <a:avLst/>
          </a:prstGeom>
          <a:noFill/>
          <a:ln/>
        </p:spPr>
        <p:txBody>
          <a:bodyPr wrap="square" lIns="0" tIns="0" rIns="0" bIns="0" rtlCol="0" anchor="ctr"/>
          <a:lstStyle/>
          <a:p>
            <a:pPr algn="ctr" indent="0" marL="0">
              <a:buNone/>
            </a:pPr>
            <a:r>
              <a:rPr lang="en-US" sz="2800" b="1" dirty="0">
                <a:solidFill>
                  <a:srgbClr val="00FFA3"/>
                </a:solidFill>
                <a:latin typeface="Calibri" pitchFamily="34" charset="0"/>
                <a:ea typeface="Calibri" pitchFamily="34" charset="-122"/>
                <a:cs typeface="Calibri" pitchFamily="34" charset="-120"/>
              </a:rPr>
              <a:t>10M $PASS</a:t>
            </a:r>
            <a:endParaRPr lang="en-US" sz="2800" dirty="0"/>
          </a:p>
        </p:txBody>
      </p:sp>
      <p:sp>
        <p:nvSpPr>
          <p:cNvPr id="12" name="Text 10"/>
          <p:cNvSpPr/>
          <p:nvPr/>
        </p:nvSpPr>
        <p:spPr>
          <a:xfrm>
            <a:off x="4544568" y="3977640"/>
            <a:ext cx="310896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high float, futarchy-governed treasury</a:t>
            </a:r>
            <a:endParaRPr lang="en-US" sz="1200" dirty="0"/>
          </a:p>
        </p:txBody>
      </p:sp>
      <p:sp>
        <p:nvSpPr>
          <p:cNvPr id="13" name="Shape 11"/>
          <p:cNvSpPr/>
          <p:nvPr/>
        </p:nvSpPr>
        <p:spPr>
          <a:xfrm>
            <a:off x="8083296" y="3108960"/>
            <a:ext cx="3566160" cy="1554480"/>
          </a:xfrm>
          <a:prstGeom prst="roundRect">
            <a:avLst>
              <a:gd name="adj" fmla="val 7059"/>
            </a:avLst>
          </a:prstGeom>
          <a:solidFill>
            <a:srgbClr val="0C1410"/>
          </a:solidFill>
          <a:ln w="12700">
            <a:solidFill>
              <a:srgbClr val="1C3229"/>
            </a:solidFill>
            <a:prstDash val="solid"/>
          </a:ln>
        </p:spPr>
      </p:sp>
      <p:sp>
        <p:nvSpPr>
          <p:cNvPr id="14" name="Text 12"/>
          <p:cNvSpPr/>
          <p:nvPr/>
        </p:nvSpPr>
        <p:spPr>
          <a:xfrm>
            <a:off x="8083296" y="3291840"/>
            <a:ext cx="3566160" cy="640080"/>
          </a:xfrm>
          <a:prstGeom prst="rect">
            <a:avLst/>
          </a:prstGeom>
          <a:noFill/>
          <a:ln/>
        </p:spPr>
        <p:txBody>
          <a:bodyPr wrap="square" lIns="0" tIns="0" rIns="0" bIns="0" rtlCol="0" anchor="ctr"/>
          <a:lstStyle/>
          <a:p>
            <a:pPr algn="ctr" indent="0" marL="0">
              <a:buNone/>
            </a:pPr>
            <a:r>
              <a:rPr lang="en-US" sz="2800" b="1" dirty="0">
                <a:solidFill>
                  <a:srgbClr val="00FFA3"/>
                </a:solidFill>
                <a:latin typeface="Calibri" pitchFamily="34" charset="0"/>
                <a:ea typeface="Calibri" pitchFamily="34" charset="-122"/>
                <a:cs typeface="Calibri" pitchFamily="34" charset="-120"/>
              </a:rPr>
              <a:t>Real yield</a:t>
            </a:r>
            <a:endParaRPr lang="en-US" sz="2800" dirty="0"/>
          </a:p>
        </p:txBody>
      </p:sp>
      <p:sp>
        <p:nvSpPr>
          <p:cNvPr id="15" name="Text 13"/>
          <p:cNvSpPr/>
          <p:nvPr/>
        </p:nvSpPr>
        <p:spPr>
          <a:xfrm>
            <a:off x="8311896" y="3977640"/>
            <a:ext cx="310896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protocol fees from day one of mainnet</a:t>
            </a:r>
            <a:endParaRPr lang="en-US" sz="1200" dirty="0"/>
          </a:p>
        </p:txBody>
      </p:sp>
      <p:sp>
        <p:nvSpPr>
          <p:cNvPr id="16" name="Text 14"/>
          <p:cNvSpPr/>
          <p:nvPr/>
        </p:nvSpPr>
        <p:spPr>
          <a:xfrm>
            <a:off x="0" y="5120640"/>
            <a:ext cx="12188952" cy="365760"/>
          </a:xfrm>
          <a:prstGeom prst="rect">
            <a:avLst/>
          </a:prstGeom>
          <a:noFill/>
          <a:ln/>
        </p:spPr>
        <p:txBody>
          <a:bodyPr wrap="square" lIns="0" tIns="0" rIns="0" bIns="0" rtlCol="0" anchor="ctr"/>
          <a:lstStyle/>
          <a:p>
            <a:pPr algn="ctr" indent="0" marL="0">
              <a:buNone/>
            </a:pPr>
            <a:r>
              <a:rPr lang="en-US" sz="1400" dirty="0">
                <a:solidFill>
                  <a:srgbClr val="00FFA3"/>
                </a:solidFill>
                <a:latin typeface="Calibri" pitchFamily="34" charset="0"/>
                <a:ea typeface="Calibri" pitchFamily="34" charset="-122"/>
                <a:cs typeface="Calibri" pitchFamily="34" charset="-120"/>
              </a:rPr>
              <a:t>github.com/SewnRetirement/passage-protocol</a:t>
            </a:r>
            <a:pPr algn="ctr" indent="0" marL="0">
              <a:buNone/>
            </a:pPr>
            <a:r>
              <a:rPr lang="en-US" sz="1400" dirty="0">
                <a:solidFill>
                  <a:srgbClr val="7DA395"/>
                </a:solidFill>
                <a:latin typeface="Calibri" pitchFamily="34" charset="0"/>
                <a:ea typeface="Calibri" pitchFamily="34" charset="-122"/>
                <a:cs typeface="Calibri" pitchFamily="34" charset="-120"/>
              </a:rPr>
              <a:t>      ·      </a:t>
            </a:r>
            <a:pPr algn="ctr" indent="0" marL="0">
              <a:buNone/>
            </a:pPr>
            <a:r>
              <a:rPr lang="en-US" sz="1400" dirty="0">
                <a:solidFill>
                  <a:srgbClr val="00FFA3"/>
                </a:solidFill>
                <a:latin typeface="Calibri" pitchFamily="34" charset="0"/>
                <a:ea typeface="Calibri" pitchFamily="34" charset="-122"/>
                <a:cs typeface="Calibri" pitchFamily="34" charset="-120"/>
              </a:rPr>
              <a:t>sewnretirement.github.io/passage-protocol</a:t>
            </a:r>
            <a:endParaRPr lang="en-US" sz="1400" dirty="0"/>
          </a:p>
        </p:txBody>
      </p:sp>
      <p:sp>
        <p:nvSpPr>
          <p:cNvPr id="17" name="Text 15"/>
          <p:cNvSpPr/>
          <p:nvPr/>
        </p:nvSpPr>
        <p:spPr>
          <a:xfrm>
            <a:off x="0" y="5760720"/>
            <a:ext cx="12188952" cy="457200"/>
          </a:xfrm>
          <a:prstGeom prst="rect">
            <a:avLst/>
          </a:prstGeom>
          <a:noFill/>
          <a:ln/>
        </p:spPr>
        <p:txBody>
          <a:bodyPr wrap="square" lIns="0" tIns="0" rIns="0" bIns="0" rtlCol="0" anchor="ctr"/>
          <a:lstStyle/>
          <a:p>
            <a:pPr algn="ctr" indent="0" marL="0">
              <a:buNone/>
            </a:pPr>
            <a:r>
              <a:rPr lang="en-US" sz="2200" b="1" dirty="0">
                <a:solidFill>
                  <a:srgbClr val="EAFFF6"/>
                </a:solidFill>
                <a:latin typeface="Calibri" pitchFamily="34" charset="0"/>
                <a:ea typeface="Calibri" pitchFamily="34" charset="-122"/>
                <a:cs typeface="Calibri" pitchFamily="34" charset="-120"/>
              </a:rPr>
              <a:t>passage</a:t>
            </a:r>
            <a:pPr algn="ctr" indent="0" marL="0">
              <a:buNone/>
            </a:pPr>
            <a:r>
              <a:rPr lang="en-US" sz="2200" b="1" dirty="0">
                <a:solidFill>
                  <a:srgbClr val="00FFA3"/>
                </a:solidFill>
                <a:latin typeface="Calibri" pitchFamily="34" charset="0"/>
                <a:ea typeface="Calibri" pitchFamily="34" charset="-122"/>
                <a:cs typeface="Calibri" pitchFamily="34" charset="-120"/>
              </a:rPr>
              <a:t>.</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2026-07-30T23:36:48Z</dcterms:created>
  <dcterms:modified xsi:type="dcterms:W3CDTF">2026-07-30T23:36:48Z</dcterms:modified>
</cp:coreProperties>
</file>