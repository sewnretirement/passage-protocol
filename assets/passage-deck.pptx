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RWA on-chain value ($B)</c:v>
                </c:pt>
              </c:strCache>
            </c:strRef>
          </c:tx>
          <c:spPr>
            <a:solidFill>
              <a:srgbClr val="00FFA3"/>
            </a:solidFill>
            <a:ln w="38100" cap="flat">
              <a:solidFill>
                <a:srgbClr val="00FFA3"/>
              </a:solidFill>
              <a:prstDash val="solid"/>
              <a:round/>
            </a:ln>
            <a:effectLst/>
          </c:spPr>
          <c:invertIfNegative val="0"/>
          <c:dLbls>
            <c:numFmt formatCode="0.#" sourceLinked="0"/>
            <c:txPr>
              <a:bodyPr/>
              <a:lstStyle/>
              <a:p>
                <a:pPr>
                  <a:defRPr b="0" i="0" strike="noStrike" sz="1000" u="none">
                    <a:solidFill>
                      <a:srgbClr val="7DA395"/>
                    </a:solidFill>
                    <a:latin typeface="Arial"/>
                  </a:defRPr>
                </a:pPr>
              </a:p>
            </c:txPr>
            <c:dLblPos val="t"/>
            <c:showLegendKey val="0"/>
            <c:showVal val="1"/>
            <c:showCatName val="0"/>
            <c:showSerName val="0"/>
            <c:showPercent val="0"/>
            <c:showBubbleSize val="0"/>
            <c:showLeaderLines val="0"/>
          </c:dLbls>
          <c:marker>
            <c:symbol val="circle"/>
            <c:size val="6"/>
            <c:spPr>
              <a:solidFill>
                <a:srgbClr val="00FFA3"/>
              </a:solidFill>
              <a:ln w="9525" cap="flat">
                <a:solidFill>
                  <a:srgbClr val="00FFA3"/>
                </a:solidFill>
                <a:prstDash val="solid"/>
                <a:round/>
              </a:ln>
              <a:effectLst/>
            </c:spPr>
          </c:marker>
          <c:cat>
            <c:multiLvlStrRef>
              <c:f>Sheet1!$A$2:$A$8</c:f>
              <c:multiLvlStrCache>
                <c:ptCount val="7"/>
                <c:lvl>
                  <c:pt idx="0">
                    <c:v>2022</c:v>
                  </c:pt>
                  <c:pt idx="1">
                    <c:v>2023</c:v>
                  </c:pt>
                  <c:pt idx="2">
                    <c:v>2024</c:v>
                  </c:pt>
                  <c:pt idx="3">
                    <c:v>2025</c:v>
                  </c:pt>
                  <c:pt idx="4">
                    <c:v>2026</c:v>
                  </c:pt>
                  <c:pt idx="5">
                    <c:v>2027E</c:v>
                  </c:pt>
                  <c:pt idx="6">
                    <c:v>2028E</c:v>
                  </c:pt>
                </c:lvl>
              </c:multiLvlStrCache>
            </c:multiLvlStrRef>
          </c:cat>
          <c:val>
            <c:numRef>
              <c:f>Sheet1!$B$2:$B$8</c:f>
              <c:numCache>
                <c:formatCode>General</c:formatCode>
                <c:ptCount val="7"/>
                <c:pt idx="0">
                  <c:v>1.5</c:v>
                </c:pt>
                <c:pt idx="1">
                  <c:v>5</c:v>
                </c:pt>
                <c:pt idx="2">
                  <c:v>12</c:v>
                </c:pt>
                <c:pt idx="3">
                  <c:v>22</c:v>
                </c:pt>
                <c:pt idx="4">
                  <c:v>30</c:v>
                </c:pt>
                <c:pt idx="5">
                  <c:v>55</c:v>
                </c:pt>
                <c:pt idx="6">
                  <c:v>100</c:v>
                </c:pt>
              </c:numCache>
            </c:numRef>
          </c:val>
          <c:smooth val="1"/>
        </c:ser>
        <c:dLbls>
          <c:numFmt formatCode="0.#" sourceLinked="0"/>
          <c:txPr>
            <a:bodyPr/>
            <a:lstStyle/>
            <a:p>
              <a:pPr>
                <a:defRPr b="0" i="0" strike="noStrike" sz="1000" u="none">
                  <a:solidFill>
                    <a:srgbClr val="7DA395"/>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DA39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1C322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DA395"/>
                </a:solidFill>
                <a:latin typeface="Arial"/>
              </a:defRPr>
            </a:pPr>
            <a:endParaRPr lang="en-US"/>
          </a:p>
        </c:txPr>
        <c:crossAx val="2094734554"/>
        <c:crosses val="autoZero"/>
        <c:crossBetween val="between"/>
      </c:valAx>
      <c:spPr>
        <a:solidFill>
          <a:srgbClr val="060B09"/>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Annual protocol revenue ($M)</c:v>
                </c:pt>
              </c:strCache>
            </c:strRef>
          </c:tx>
          <c:spPr>
            <a:solidFill>
              <a:srgbClr val="00FFA3"/>
            </a:solidFill>
            <a:effectLst/>
          </c:spPr>
          <c:invertIfNegative val="0"/>
          <c:dLbls>
            <c:numFmt formatCode="0.#" sourceLinked="0"/>
            <c:txPr>
              <a:bodyPr/>
              <a:lstStyle/>
              <a:p>
                <a:pPr>
                  <a:defRPr b="0" i="0" strike="noStrike" sz="1100" u="none">
                    <a:solidFill>
                      <a:srgbClr val="EAFFF6"/>
                    </a:solidFill>
                    <a:latin typeface="Arial"/>
                  </a:defRPr>
                </a:pPr>
              </a:p>
            </c:txPr>
            <c:showLegendKey val="0"/>
            <c:showVal val="1"/>
            <c:showCatName val="0"/>
            <c:showSerName val="0"/>
            <c:showPercent val="0"/>
            <c:showBubbleSize val="0"/>
            <c:showLeaderLines val="0"/>
          </c:dLbls>
          <c:cat>
            <c:multiLvlStrRef>
              <c:f>Sheet1!$A$2:$A$4</c:f>
              <c:multiLvlStrCache>
                <c:ptCount val="3"/>
                <c:lvl>
                  <c:pt idx="0">
                    <c:v>$100M TVW</c:v>
                  </c:pt>
                  <c:pt idx="1">
                    <c:v>$500M TVW</c:v>
                  </c:pt>
                  <c:pt idx="2">
                    <c:v>$2B TVW</c:v>
                  </c:pt>
                </c:lvl>
              </c:multiLvlStrCache>
            </c:multiLvlStrRef>
          </c:cat>
          <c:val>
            <c:numRef>
              <c:f>Sheet1!$B$2:$B$4</c:f>
              <c:numCache>
                <c:formatCode>General</c:formatCode>
                <c:ptCount val="3"/>
                <c:pt idx="0">
                  <c:v>0.6</c:v>
                </c:pt>
                <c:pt idx="1">
                  <c:v>3</c:v>
                </c:pt>
                <c:pt idx="2">
                  <c:v>12</c:v>
                </c:pt>
              </c:numCache>
            </c:numRef>
          </c:val>
        </c:ser>
        <c:dLbls>
          <c:numFmt formatCode="0.#" sourceLinked="0"/>
          <c:txPr>
            <a:bodyPr/>
            <a:lstStyle/>
            <a:p>
              <a:pPr>
                <a:defRPr b="0" i="0" strike="noStrike" sz="1100" u="none">
                  <a:solidFill>
                    <a:srgbClr val="EAFFF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7DA395"/>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7DA39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Monthly budget ($k)</c:v>
                </c:pt>
              </c:strCache>
            </c:strRef>
          </c:tx>
          <c:spPr>
            <a:solidFill>
              <a:srgbClr val="00FFA3"/>
            </a:solidFill>
            <a:effectLst/>
          </c:spPr>
          <c:invertIfNegative val="0"/>
          <c:dLbls>
            <c:numFmt formatCode="0.#" sourceLinked="0"/>
            <c:txPr>
              <a:bodyPr/>
              <a:lstStyle/>
              <a:p>
                <a:pPr>
                  <a:defRPr b="0" i="0" strike="noStrike" sz="1000" u="none">
                    <a:solidFill>
                      <a:srgbClr val="EAFFF6"/>
                    </a:solidFill>
                    <a:latin typeface="Arial"/>
                  </a:defRPr>
                </a:pPr>
              </a:p>
            </c:txPr>
            <c:showLegendKey val="0"/>
            <c:showVal val="1"/>
            <c:showCatName val="0"/>
            <c:showSerName val="0"/>
            <c:showPercent val="0"/>
            <c:showBubbleSize val="0"/>
            <c:showLeaderLines val="0"/>
          </c:dLbls>
          <c:cat>
            <c:multiLvlStrRef>
              <c:f>Sheet1!$A$2:$A$9</c:f>
              <c:multiLvlStrCache>
                <c:ptCount val="8"/>
                <c:lvl>
                  <c:pt idx="0">
                    <c:v>Founder</c:v>
                  </c:pt>
                  <c:pt idx="1">
                    <c:v>2nd developer</c:v>
                  </c:pt>
                  <c:pt idx="2">
                    <c:v>Advisors (2x)</c:v>
                  </c:pt>
                  <c:pt idx="3">
                    <c:v>Marketing &amp; community</c:v>
                  </c:pt>
                  <c:pt idx="4">
                    <c:v>Infra &amp; tooling</c:v>
                  </c:pt>
                  <c:pt idx="5">
                    <c:v>KYC provider</c:v>
                  </c:pt>
                  <c:pt idx="6">
                    <c:v>Admin &amp; entity</c:v>
                  </c:pt>
                  <c:pt idx="7">
                    <c:v>Contingency</c:v>
                  </c:pt>
                </c:lvl>
              </c:multiLvlStrCache>
            </c:multiLvlStrRef>
          </c:cat>
          <c:val>
            <c:numRef>
              <c:f>Sheet1!$B$2:$B$9</c:f>
              <c:numCache>
                <c:formatCode>General</c:formatCode>
                <c:ptCount val="8"/>
                <c:pt idx="0">
                  <c:v>16</c:v>
                </c:pt>
                <c:pt idx="1">
                  <c:v>10</c:v>
                </c:pt>
                <c:pt idx="2">
                  <c:v>10</c:v>
                </c:pt>
                <c:pt idx="3">
                  <c:v>8</c:v>
                </c:pt>
                <c:pt idx="4">
                  <c:v>1.5</c:v>
                </c:pt>
                <c:pt idx="5">
                  <c:v>1</c:v>
                </c:pt>
                <c:pt idx="6">
                  <c:v>1.5</c:v>
                </c:pt>
                <c:pt idx="7">
                  <c:v>2</c:v>
                </c:pt>
              </c:numCache>
            </c:numRef>
          </c:val>
        </c:ser>
        <c:dLbls>
          <c:numFmt formatCode="0.#" sourceLinked="0"/>
          <c:txPr>
            <a:bodyPr/>
            <a:lstStyle/>
            <a:p>
              <a:pPr>
                <a:defRPr b="0" i="0" strike="noStrike" sz="1000" u="none">
                  <a:solidFill>
                    <a:srgbClr val="EAFFF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7DA395"/>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B09"/>
        </a:solidFill>
      </p:bgPr>
    </p:bg>
    <p:spTree>
      <p:nvGrpSpPr>
        <p:cNvPr id="1" name=""/>
        <p:cNvGrpSpPr/>
        <p:nvPr/>
      </p:nvGrpSpPr>
      <p:grpSpPr>
        <a:xfrm>
          <a:off x="0" y="0"/>
          <a:ext cx="0" cy="0"/>
          <a:chOff x="0" y="0"/>
          <a:chExt cx="0" cy="0"/>
        </a:xfrm>
      </p:grpSpPr>
      <p:sp>
        <p:nvSpPr>
          <p:cNvPr id="2" name="Shape 0"/>
          <p:cNvSpPr/>
          <p:nvPr/>
        </p:nvSpPr>
        <p:spPr>
          <a:xfrm>
            <a:off x="4480560" y="-2377440"/>
            <a:ext cx="3291840" cy="3291840"/>
          </a:xfrm>
          <a:prstGeom prst="ellipse">
            <a:avLst/>
          </a:prstGeom>
          <a:solidFill>
            <a:srgbClr val="0D2A1E">
              <a:alpha val="80000"/>
            </a:srgbClr>
          </a:solidFill>
          <a:ln/>
        </p:spPr>
      </p:sp>
      <p:sp>
        <p:nvSpPr>
          <p:cNvPr id="3" name="Shape 1"/>
          <p:cNvSpPr/>
          <p:nvPr/>
        </p:nvSpPr>
        <p:spPr>
          <a:xfrm>
            <a:off x="5715000" y="1417320"/>
            <a:ext cx="115214" cy="793699"/>
          </a:xfrm>
          <a:prstGeom prst="roundRect">
            <a:avLst>
              <a:gd name="adj" fmla="val 44445"/>
            </a:avLst>
          </a:prstGeom>
          <a:solidFill>
            <a:srgbClr val="00FFA3"/>
          </a:solidFill>
          <a:ln/>
        </p:spPr>
      </p:sp>
      <p:sp>
        <p:nvSpPr>
          <p:cNvPr id="4" name="Shape 2"/>
          <p:cNvSpPr/>
          <p:nvPr/>
        </p:nvSpPr>
        <p:spPr>
          <a:xfrm>
            <a:off x="6252667" y="1417320"/>
            <a:ext cx="115214" cy="793699"/>
          </a:xfrm>
          <a:prstGeom prst="roundRect">
            <a:avLst>
              <a:gd name="adj" fmla="val 44445"/>
            </a:avLst>
          </a:prstGeom>
          <a:solidFill>
            <a:srgbClr val="00FFA3"/>
          </a:solidFill>
          <a:ln/>
        </p:spPr>
      </p:sp>
      <p:sp>
        <p:nvSpPr>
          <p:cNvPr id="5" name="Shape 3"/>
          <p:cNvSpPr/>
          <p:nvPr/>
        </p:nvSpPr>
        <p:spPr>
          <a:xfrm>
            <a:off x="5586984" y="1775765"/>
            <a:ext cx="921715" cy="0"/>
          </a:xfrm>
          <a:prstGeom prst="line">
            <a:avLst/>
          </a:prstGeom>
          <a:noFill/>
          <a:ln w="53340">
            <a:solidFill>
              <a:srgbClr val="00FFA3"/>
            </a:solidFill>
            <a:prstDash val="solid"/>
          </a:ln>
        </p:spPr>
      </p:sp>
      <p:sp>
        <p:nvSpPr>
          <p:cNvPr id="6" name="Text 4"/>
          <p:cNvSpPr/>
          <p:nvPr/>
        </p:nvSpPr>
        <p:spPr>
          <a:xfrm>
            <a:off x="0" y="2377440"/>
            <a:ext cx="12188952" cy="914400"/>
          </a:xfrm>
          <a:prstGeom prst="rect">
            <a:avLst/>
          </a:prstGeom>
          <a:noFill/>
          <a:ln/>
        </p:spPr>
        <p:txBody>
          <a:bodyPr wrap="square" lIns="0" tIns="0" rIns="0" bIns="0" rtlCol="0" anchor="ctr"/>
          <a:lstStyle/>
          <a:p>
            <a:pPr algn="ctr" indent="0" marL="0">
              <a:buNone/>
            </a:pPr>
            <a:r>
              <a:rPr lang="en-US" sz="5400" b="1" dirty="0">
                <a:solidFill>
                  <a:srgbClr val="EAFFF6"/>
                </a:solidFill>
                <a:latin typeface="Calibri" pitchFamily="34" charset="0"/>
                <a:ea typeface="Calibri" pitchFamily="34" charset="-122"/>
                <a:cs typeface="Calibri" pitchFamily="34" charset="-120"/>
              </a:rPr>
              <a:t>passage</a:t>
            </a:r>
            <a:pPr algn="ctr" indent="0" marL="0">
              <a:buNone/>
            </a:pPr>
            <a:r>
              <a:rPr lang="en-US" sz="5400" b="1" dirty="0">
                <a:solidFill>
                  <a:srgbClr val="00FFA3"/>
                </a:solidFill>
                <a:latin typeface="Calibri" pitchFamily="34" charset="0"/>
                <a:ea typeface="Calibri" pitchFamily="34" charset="-122"/>
                <a:cs typeface="Calibri" pitchFamily="34" charset="-120"/>
              </a:rPr>
              <a:t>.</a:t>
            </a:r>
            <a:endParaRPr lang="en-US" sz="5400" dirty="0"/>
          </a:p>
        </p:txBody>
      </p:sp>
      <p:sp>
        <p:nvSpPr>
          <p:cNvPr id="7" name="Text 5"/>
          <p:cNvSpPr/>
          <p:nvPr/>
        </p:nvSpPr>
        <p:spPr>
          <a:xfrm>
            <a:off x="0" y="3291840"/>
            <a:ext cx="12188952" cy="457200"/>
          </a:xfrm>
          <a:prstGeom prst="rect">
            <a:avLst/>
          </a:prstGeom>
          <a:noFill/>
          <a:ln/>
        </p:spPr>
        <p:txBody>
          <a:bodyPr wrap="square" lIns="0" tIns="0" rIns="0" bIns="0" rtlCol="0" anchor="ctr"/>
          <a:lstStyle/>
          <a:p>
            <a:pPr algn="ctr" indent="0" marL="0">
              <a:buNone/>
            </a:pPr>
            <a:r>
              <a:rPr lang="en-US" sz="1800" dirty="0">
                <a:solidFill>
                  <a:srgbClr val="7DA395"/>
                </a:solidFill>
                <a:latin typeface="Calibri" pitchFamily="34" charset="0"/>
                <a:ea typeface="Calibri" pitchFamily="34" charset="-122"/>
                <a:cs typeface="Calibri" pitchFamily="34" charset="-120"/>
              </a:rPr>
              <a:t>The compliance bridge that makes real-world assets DeFi-composable</a:t>
            </a:r>
            <a:endParaRPr lang="en-US" sz="1800" dirty="0"/>
          </a:p>
        </p:txBody>
      </p:sp>
      <p:sp>
        <p:nvSpPr>
          <p:cNvPr id="8" name="Text 6"/>
          <p:cNvSpPr/>
          <p:nvPr/>
        </p:nvSpPr>
        <p:spPr>
          <a:xfrm>
            <a:off x="0" y="3977640"/>
            <a:ext cx="12188952" cy="365760"/>
          </a:xfrm>
          <a:prstGeom prst="rect">
            <a:avLst/>
          </a:prstGeom>
          <a:noFill/>
          <a:ln/>
        </p:spPr>
        <p:txBody>
          <a:bodyPr wrap="square" lIns="0" tIns="0" rIns="0" bIns="0" rtlCol="0" anchor="ctr"/>
          <a:lstStyle/>
          <a:p>
            <a:pPr algn="ctr" indent="0" marL="0">
              <a:buNone/>
            </a:pPr>
            <a:r>
              <a:rPr lang="en-US" sz="1200" spc="200" kern="0" dirty="0">
                <a:solidFill>
                  <a:srgbClr val="00FFA3"/>
                </a:solidFill>
                <a:latin typeface="Calibri" pitchFamily="34" charset="0"/>
                <a:ea typeface="Calibri" pitchFamily="34" charset="-122"/>
                <a:cs typeface="Calibri" pitchFamily="34" charset="-120"/>
              </a:rPr>
              <a:t>SOLANA</a:t>
            </a:r>
            <a:pPr algn="ctr" indent="0" marL="0">
              <a:buNone/>
            </a:pPr>
            <a:r>
              <a:rPr lang="en-US" sz="1200" spc="200" kern="0" dirty="0">
                <a:solidFill>
                  <a:srgbClr val="7DA395"/>
                </a:solidFill>
                <a:latin typeface="Calibri" pitchFamily="34" charset="0"/>
                <a:ea typeface="Calibri" pitchFamily="34" charset="-122"/>
                <a:cs typeface="Calibri" pitchFamily="34" charset="-120"/>
              </a:rPr>
              <a:t>   ·   </a:t>
            </a:r>
            <a:pPr algn="ctr" indent="0" marL="0">
              <a:buNone/>
            </a:pPr>
            <a:r>
              <a:rPr lang="en-US" sz="1200" spc="200" kern="0" dirty="0">
                <a:solidFill>
                  <a:srgbClr val="00FFA3"/>
                </a:solidFill>
                <a:latin typeface="Calibri" pitchFamily="34" charset="0"/>
                <a:ea typeface="Calibri" pitchFamily="34" charset="-122"/>
                <a:cs typeface="Calibri" pitchFamily="34" charset="-120"/>
              </a:rPr>
              <a:t>TOKEN-2022 TRANSFER HOOKS</a:t>
            </a:r>
            <a:pPr algn="ctr" indent="0" marL="0">
              <a:buNone/>
            </a:pPr>
            <a:r>
              <a:rPr lang="en-US" sz="1200" spc="200" kern="0" dirty="0">
                <a:solidFill>
                  <a:srgbClr val="7DA395"/>
                </a:solidFill>
                <a:latin typeface="Calibri" pitchFamily="34" charset="0"/>
                <a:ea typeface="Calibri" pitchFamily="34" charset="-122"/>
                <a:cs typeface="Calibri" pitchFamily="34" charset="-120"/>
              </a:rPr>
              <a:t>   ·   </a:t>
            </a:r>
            <a:pPr algn="ctr" indent="0" marL="0">
              <a:buNone/>
            </a:pPr>
            <a:r>
              <a:rPr lang="en-US" sz="1200" spc="200" kern="0" dirty="0">
                <a:solidFill>
                  <a:srgbClr val="00FFA3"/>
                </a:solidFill>
                <a:latin typeface="Calibri" pitchFamily="34" charset="0"/>
                <a:ea typeface="Calibri" pitchFamily="34" charset="-122"/>
                <a:cs typeface="Calibri" pitchFamily="34" charset="-120"/>
              </a:rPr>
              <a:t>REAL YIELD</a:t>
            </a:r>
            <a:endParaRPr lang="en-US" sz="1200" dirty="0"/>
          </a:p>
        </p:txBody>
      </p:sp>
      <p:sp>
        <p:nvSpPr>
          <p:cNvPr id="9" name="Text 7"/>
          <p:cNvSpPr/>
          <p:nvPr/>
        </p:nvSpPr>
        <p:spPr>
          <a:xfrm>
            <a:off x="0" y="6126480"/>
            <a:ext cx="12188952" cy="365760"/>
          </a:xfrm>
          <a:prstGeom prst="rect">
            <a:avLst/>
          </a:prstGeom>
          <a:noFill/>
          <a:ln/>
        </p:spPr>
        <p:txBody>
          <a:bodyPr wrap="square" lIns="0" tIns="0" rIns="0" bIns="0" rtlCol="0" anchor="ctr"/>
          <a:lstStyle/>
          <a:p>
            <a:pPr algn="ctr" indent="0" marL="0">
              <a:buNone/>
            </a:pPr>
            <a:r>
              <a:rPr lang="en-US" sz="1100" dirty="0">
                <a:solidFill>
                  <a:srgbClr val="7DA395"/>
                </a:solidFill>
                <a:latin typeface="Calibri" pitchFamily="34" charset="0"/>
                <a:ea typeface="Calibri" pitchFamily="34" charset="-122"/>
                <a:cs typeface="Calibri" pitchFamily="34" charset="-120"/>
              </a:rPr>
              <a:t>Investor deck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B09"/>
        </a:solidFill>
      </p:bgPr>
    </p:bg>
    <p:spTree>
      <p:nvGrpSpPr>
        <p:cNvPr id="1" name=""/>
        <p:cNvGrpSpPr/>
        <p:nvPr/>
      </p:nvGrpSpPr>
      <p:grpSpPr>
        <a:xfrm>
          <a:off x="0" y="0"/>
          <a:ext cx="0" cy="0"/>
          <a:chOff x="0" y="0"/>
          <a:chExt cx="0" cy="0"/>
        </a:xfrm>
      </p:grpSpPr>
      <p:sp>
        <p:nvSpPr>
          <p:cNvPr id="2" name="Text 0"/>
          <p:cNvSpPr/>
          <p:nvPr/>
        </p:nvSpPr>
        <p:spPr>
          <a:xfrm>
            <a:off x="457200" y="6446520"/>
            <a:ext cx="1828800" cy="274320"/>
          </a:xfrm>
          <a:prstGeom prst="rect">
            <a:avLst/>
          </a:prstGeom>
          <a:noFill/>
          <a:ln/>
        </p:spPr>
        <p:txBody>
          <a:bodyPr wrap="square" lIns="0" tIns="0" rIns="0" bIns="0" rtlCol="0" anchor="ctr"/>
          <a:lstStyle/>
          <a:p>
            <a:pPr indent="0" marL="0">
              <a:buNone/>
            </a:pPr>
            <a:r>
              <a:rPr lang="en-US" sz="1000" dirty="0">
                <a:solidFill>
                  <a:srgbClr val="7DA395"/>
                </a:solidFill>
                <a:latin typeface="Calibri" pitchFamily="34" charset="0"/>
                <a:ea typeface="Calibri" pitchFamily="34" charset="-122"/>
                <a:cs typeface="Calibri" pitchFamily="34" charset="-120"/>
              </a:rPr>
              <a:t>passage</a:t>
            </a:r>
            <a:pPr indent="0" marL="0">
              <a:buNone/>
            </a:pPr>
            <a:r>
              <a:rPr lang="en-US" sz="1000" dirty="0">
                <a:solidFill>
                  <a:srgbClr val="00FFA3"/>
                </a:solidFill>
                <a:latin typeface="Calibri" pitchFamily="34" charset="0"/>
                <a:ea typeface="Calibri" pitchFamily="34" charset="-122"/>
                <a:cs typeface="Calibri" pitchFamily="34" charset="-120"/>
              </a:rPr>
              <a:t>.</a:t>
            </a:r>
            <a:endParaRPr lang="en-US" sz="1000" dirty="0"/>
          </a:p>
        </p:txBody>
      </p:sp>
      <p:sp>
        <p:nvSpPr>
          <p:cNvPr id="3" name="Text 1"/>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1000" dirty="0">
                <a:solidFill>
                  <a:srgbClr val="7DA395"/>
                </a:solidFill>
                <a:latin typeface="Calibri" pitchFamily="34" charset="0"/>
                <a:ea typeface="Calibri" pitchFamily="34" charset="-122"/>
                <a:cs typeface="Calibri" pitchFamily="34" charset="-120"/>
              </a:rPr>
              <a:t>2</a:t>
            </a:r>
            <a:endParaRPr lang="en-US" sz="1000" dirty="0"/>
          </a:p>
        </p:txBody>
      </p:sp>
      <p:sp>
        <p:nvSpPr>
          <p:cNvPr id="4" name="Text 2"/>
          <p:cNvSpPr/>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AFFF6"/>
                </a:solidFill>
                <a:latin typeface="Calibri" pitchFamily="34" charset="0"/>
                <a:ea typeface="Calibri" pitchFamily="34" charset="-122"/>
                <a:cs typeface="Calibri" pitchFamily="34" charset="-120"/>
              </a:rPr>
              <a:t>A $30B market that can't move</a:t>
            </a:r>
            <a:endParaRPr lang="en-US" sz="3000" dirty="0"/>
          </a:p>
        </p:txBody>
      </p:sp>
      <p:sp>
        <p:nvSpPr>
          <p:cNvPr id="5" name="Text 3"/>
          <p:cNvSpPr/>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7DA395"/>
                </a:solidFill>
                <a:latin typeface="Calibri" pitchFamily="34" charset="0"/>
                <a:ea typeface="Calibri" pitchFamily="34" charset="-122"/>
                <a:cs typeface="Calibri" pitchFamily="34" charset="-120"/>
              </a:rPr>
              <a:t>Tokenized RWAs exist — but they are locked out of DeFi</a:t>
            </a:r>
            <a:endParaRPr lang="en-US" sz="1400" dirty="0"/>
          </a:p>
        </p:txBody>
      </p:sp>
      <p:sp>
        <p:nvSpPr>
          <p:cNvPr id="6" name="Shape 4"/>
          <p:cNvSpPr/>
          <p:nvPr/>
        </p:nvSpPr>
        <p:spPr>
          <a:xfrm>
            <a:off x="548640" y="1554480"/>
            <a:ext cx="3566160" cy="2011680"/>
          </a:xfrm>
          <a:prstGeom prst="roundRect">
            <a:avLst>
              <a:gd name="adj" fmla="val 5455"/>
            </a:avLst>
          </a:prstGeom>
          <a:solidFill>
            <a:srgbClr val="0C1410"/>
          </a:solidFill>
          <a:ln w="12700">
            <a:solidFill>
              <a:srgbClr val="1C3229"/>
            </a:solidFill>
            <a:prstDash val="solid"/>
          </a:ln>
        </p:spPr>
      </p:sp>
      <p:sp>
        <p:nvSpPr>
          <p:cNvPr id="7" name="Text 5"/>
          <p:cNvSpPr/>
          <p:nvPr/>
        </p:nvSpPr>
        <p:spPr>
          <a:xfrm>
            <a:off x="548640" y="1828800"/>
            <a:ext cx="3566160" cy="914400"/>
          </a:xfrm>
          <a:prstGeom prst="rect">
            <a:avLst/>
          </a:prstGeom>
          <a:noFill/>
          <a:ln/>
        </p:spPr>
        <p:txBody>
          <a:bodyPr wrap="square" lIns="0" tIns="0" rIns="0" bIns="0" rtlCol="0" anchor="ctr"/>
          <a:lstStyle/>
          <a:p>
            <a:pPr algn="ctr" indent="0" marL="0">
              <a:buNone/>
            </a:pPr>
            <a:r>
              <a:rPr lang="en-US" sz="4800" b="1" dirty="0">
                <a:solidFill>
                  <a:srgbClr val="EAFFF6"/>
                </a:solidFill>
                <a:latin typeface="Calibri" pitchFamily="34" charset="0"/>
                <a:ea typeface="Calibri" pitchFamily="34" charset="-122"/>
                <a:cs typeface="Calibri" pitchFamily="34" charset="-120"/>
              </a:rPr>
              <a:t>$30B</a:t>
            </a:r>
            <a:endParaRPr lang="en-US" sz="4800" dirty="0"/>
          </a:p>
        </p:txBody>
      </p:sp>
      <p:sp>
        <p:nvSpPr>
          <p:cNvPr id="8" name="Text 6"/>
          <p:cNvSpPr/>
          <p:nvPr/>
        </p:nvSpPr>
        <p:spPr>
          <a:xfrm>
            <a:off x="822960" y="2788920"/>
            <a:ext cx="3017520" cy="640080"/>
          </a:xfrm>
          <a:prstGeom prst="rect">
            <a:avLst/>
          </a:prstGeom>
          <a:noFill/>
          <a:ln/>
        </p:spPr>
        <p:txBody>
          <a:bodyPr wrap="square" lIns="0" tIns="0" rIns="0" bIns="0" rtlCol="0" anchor="ctr"/>
          <a:lstStyle/>
          <a:p>
            <a:pPr algn="ctr" indent="0" marL="0">
              <a:buNone/>
            </a:pPr>
            <a:r>
              <a:rPr lang="en-US" sz="1300" dirty="0">
                <a:solidFill>
                  <a:srgbClr val="7DA395"/>
                </a:solidFill>
                <a:latin typeface="Calibri" pitchFamily="34" charset="0"/>
                <a:ea typeface="Calibri" pitchFamily="34" charset="-122"/>
                <a:cs typeface="Calibri" pitchFamily="34" charset="-120"/>
              </a:rPr>
              <a:t>of RWAs tokenized on-chain (T-bills, funds, private credit)</a:t>
            </a:r>
            <a:endParaRPr lang="en-US" sz="1300" dirty="0"/>
          </a:p>
        </p:txBody>
      </p:sp>
      <p:sp>
        <p:nvSpPr>
          <p:cNvPr id="9" name="Shape 7"/>
          <p:cNvSpPr/>
          <p:nvPr/>
        </p:nvSpPr>
        <p:spPr>
          <a:xfrm>
            <a:off x="4315968" y="1554480"/>
            <a:ext cx="3566160" cy="2011680"/>
          </a:xfrm>
          <a:prstGeom prst="roundRect">
            <a:avLst>
              <a:gd name="adj" fmla="val 5455"/>
            </a:avLst>
          </a:prstGeom>
          <a:solidFill>
            <a:srgbClr val="0C1410"/>
          </a:solidFill>
          <a:ln w="12700">
            <a:solidFill>
              <a:srgbClr val="1C3229"/>
            </a:solidFill>
            <a:prstDash val="solid"/>
          </a:ln>
        </p:spPr>
      </p:sp>
      <p:sp>
        <p:nvSpPr>
          <p:cNvPr id="10" name="Text 8"/>
          <p:cNvSpPr/>
          <p:nvPr/>
        </p:nvSpPr>
        <p:spPr>
          <a:xfrm>
            <a:off x="4315968" y="1828800"/>
            <a:ext cx="3566160" cy="914400"/>
          </a:xfrm>
          <a:prstGeom prst="rect">
            <a:avLst/>
          </a:prstGeom>
          <a:noFill/>
          <a:ln/>
        </p:spPr>
        <p:txBody>
          <a:bodyPr wrap="square" lIns="0" tIns="0" rIns="0" bIns="0" rtlCol="0" anchor="ctr"/>
          <a:lstStyle/>
          <a:p>
            <a:pPr algn="ctr" indent="0" marL="0">
              <a:buNone/>
            </a:pPr>
            <a:r>
              <a:rPr lang="en-US" sz="4800" b="1" dirty="0">
                <a:solidFill>
                  <a:srgbClr val="00FFA3"/>
                </a:solidFill>
                <a:latin typeface="Calibri" pitchFamily="34" charset="0"/>
                <a:ea typeface="Calibri" pitchFamily="34" charset="-122"/>
                <a:cs typeface="Calibri" pitchFamily="34" charset="-120"/>
              </a:rPr>
              <a:t>~8%</a:t>
            </a:r>
            <a:endParaRPr lang="en-US" sz="4800" dirty="0"/>
          </a:p>
        </p:txBody>
      </p:sp>
      <p:sp>
        <p:nvSpPr>
          <p:cNvPr id="11" name="Text 9"/>
          <p:cNvSpPr/>
          <p:nvPr/>
        </p:nvSpPr>
        <p:spPr>
          <a:xfrm>
            <a:off x="4590288" y="2788920"/>
            <a:ext cx="3017520" cy="640080"/>
          </a:xfrm>
          <a:prstGeom prst="rect">
            <a:avLst/>
          </a:prstGeom>
          <a:noFill/>
          <a:ln/>
        </p:spPr>
        <p:txBody>
          <a:bodyPr wrap="square" lIns="0" tIns="0" rIns="0" bIns="0" rtlCol="0" anchor="ctr"/>
          <a:lstStyle/>
          <a:p>
            <a:pPr algn="ctr" indent="0" marL="0">
              <a:buNone/>
            </a:pPr>
            <a:r>
              <a:rPr lang="en-US" sz="1300" dirty="0">
                <a:solidFill>
                  <a:srgbClr val="7DA395"/>
                </a:solidFill>
                <a:latin typeface="Calibri" pitchFamily="34" charset="0"/>
                <a:ea typeface="Calibri" pitchFamily="34" charset="-122"/>
                <a:cs typeface="Calibri" pitchFamily="34" charset="-120"/>
              </a:rPr>
              <a:t>actually circulates in DeFi protocols</a:t>
            </a:r>
            <a:endParaRPr lang="en-US" sz="1300" dirty="0"/>
          </a:p>
        </p:txBody>
      </p:sp>
      <p:sp>
        <p:nvSpPr>
          <p:cNvPr id="12" name="Shape 10"/>
          <p:cNvSpPr/>
          <p:nvPr/>
        </p:nvSpPr>
        <p:spPr>
          <a:xfrm>
            <a:off x="8083296" y="1554480"/>
            <a:ext cx="3566160" cy="2011680"/>
          </a:xfrm>
          <a:prstGeom prst="roundRect">
            <a:avLst>
              <a:gd name="adj" fmla="val 5455"/>
            </a:avLst>
          </a:prstGeom>
          <a:solidFill>
            <a:srgbClr val="0C1410"/>
          </a:solidFill>
          <a:ln w="12700">
            <a:solidFill>
              <a:srgbClr val="1C3229"/>
            </a:solidFill>
            <a:prstDash val="solid"/>
          </a:ln>
        </p:spPr>
      </p:sp>
      <p:sp>
        <p:nvSpPr>
          <p:cNvPr id="13" name="Text 11"/>
          <p:cNvSpPr/>
          <p:nvPr/>
        </p:nvSpPr>
        <p:spPr>
          <a:xfrm>
            <a:off x="8083296" y="1828800"/>
            <a:ext cx="3566160" cy="914400"/>
          </a:xfrm>
          <a:prstGeom prst="rect">
            <a:avLst/>
          </a:prstGeom>
          <a:noFill/>
          <a:ln/>
        </p:spPr>
        <p:txBody>
          <a:bodyPr wrap="square" lIns="0" tIns="0" rIns="0" bIns="0" rtlCol="0" anchor="ctr"/>
          <a:lstStyle/>
          <a:p>
            <a:pPr algn="ctr" indent="0" marL="0">
              <a:buNone/>
            </a:pPr>
            <a:r>
              <a:rPr lang="en-US" sz="4800" b="1" dirty="0">
                <a:solidFill>
                  <a:srgbClr val="FF6B6B"/>
                </a:solidFill>
                <a:latin typeface="Calibri" pitchFamily="34" charset="0"/>
                <a:ea typeface="Calibri" pitchFamily="34" charset="-122"/>
                <a:cs typeface="Calibri" pitchFamily="34" charset="-120"/>
              </a:rPr>
              <a:t>$0</a:t>
            </a:r>
            <a:endParaRPr lang="en-US" sz="4800" dirty="0"/>
          </a:p>
        </p:txBody>
      </p:sp>
      <p:sp>
        <p:nvSpPr>
          <p:cNvPr id="14" name="Text 12"/>
          <p:cNvSpPr/>
          <p:nvPr/>
        </p:nvSpPr>
        <p:spPr>
          <a:xfrm>
            <a:off x="8357616" y="2788920"/>
            <a:ext cx="3017520" cy="640080"/>
          </a:xfrm>
          <a:prstGeom prst="rect">
            <a:avLst/>
          </a:prstGeom>
          <a:noFill/>
          <a:ln/>
        </p:spPr>
        <p:txBody>
          <a:bodyPr wrap="square" lIns="0" tIns="0" rIns="0" bIns="0" rtlCol="0" anchor="ctr"/>
          <a:lstStyle/>
          <a:p>
            <a:pPr algn="ctr" indent="0" marL="0">
              <a:buNone/>
            </a:pPr>
            <a:r>
              <a:rPr lang="en-US" sz="1300" dirty="0">
                <a:solidFill>
                  <a:srgbClr val="7DA395"/>
                </a:solidFill>
                <a:latin typeface="Calibri" pitchFamily="34" charset="0"/>
                <a:ea typeface="Calibri" pitchFamily="34" charset="-122"/>
                <a:cs typeface="Calibri" pitchFamily="34" charset="-120"/>
              </a:rPr>
              <a:t>of that liquidity earns composable DeFi yield today</a:t>
            </a:r>
            <a:endParaRPr lang="en-US" sz="1300" dirty="0"/>
          </a:p>
        </p:txBody>
      </p:sp>
      <p:sp>
        <p:nvSpPr>
          <p:cNvPr id="15" name="Text 13"/>
          <p:cNvSpPr/>
          <p:nvPr/>
        </p:nvSpPr>
        <p:spPr>
          <a:xfrm>
            <a:off x="548640" y="4023360"/>
            <a:ext cx="11064240" cy="914400"/>
          </a:xfrm>
          <a:prstGeom prst="rect">
            <a:avLst/>
          </a:prstGeom>
          <a:noFill/>
          <a:ln/>
        </p:spPr>
        <p:txBody>
          <a:bodyPr wrap="square" lIns="0" tIns="0" rIns="0" bIns="0" rtlCol="0" anchor="ctr"/>
          <a:lstStyle/>
          <a:p>
            <a:pPr indent="0" marL="0">
              <a:buNone/>
            </a:pPr>
            <a:r>
              <a:rPr lang="en-US" sz="1500" b="1" dirty="0">
                <a:solidFill>
                  <a:srgbClr val="EAFFF6"/>
                </a:solidFill>
                <a:latin typeface="Calibri" pitchFamily="34" charset="0"/>
                <a:ea typeface="Calibri" pitchFamily="34" charset="-122"/>
                <a:cs typeface="Calibri" pitchFamily="34" charset="-120"/>
              </a:rPr>
              <a:t>Why? </a:t>
            </a:r>
            <a:pPr indent="0" marL="0">
              <a:buNone/>
            </a:pPr>
            <a:r>
              <a:rPr lang="en-US" sz="1500" dirty="0">
                <a:solidFill>
                  <a:srgbClr val="7DA395"/>
                </a:solidFill>
                <a:latin typeface="Calibri" pitchFamily="34" charset="0"/>
                <a:ea typeface="Calibri" pitchFamily="34" charset="-122"/>
                <a:cs typeface="Calibri" pitchFamily="34" charset="-120"/>
              </a:rPr>
              <a:t>KYC allowlists and transfer agents mean tokenized treasuries can't be swapped, staked, or used as collateral in open protocols. The ECB warns that without common standards, tokenized markets become isolated pools.</a:t>
            </a:r>
            <a:endParaRPr lang="en-US" sz="1500" dirty="0"/>
          </a:p>
        </p:txBody>
      </p:sp>
      <p:sp>
        <p:nvSpPr>
          <p:cNvPr id="16" name="Shape 14"/>
          <p:cNvSpPr/>
          <p:nvPr/>
        </p:nvSpPr>
        <p:spPr>
          <a:xfrm>
            <a:off x="548640" y="5029200"/>
            <a:ext cx="11064240" cy="1005840"/>
          </a:xfrm>
          <a:prstGeom prst="roundRect">
            <a:avLst>
              <a:gd name="adj" fmla="val 10909"/>
            </a:avLst>
          </a:prstGeom>
          <a:solidFill>
            <a:srgbClr val="122019"/>
          </a:solidFill>
          <a:ln w="12700">
            <a:solidFill>
              <a:srgbClr val="1C3229"/>
            </a:solidFill>
            <a:prstDash val="solid"/>
          </a:ln>
        </p:spPr>
      </p:sp>
      <p:sp>
        <p:nvSpPr>
          <p:cNvPr id="17" name="Text 15"/>
          <p:cNvSpPr/>
          <p:nvPr/>
        </p:nvSpPr>
        <p:spPr>
          <a:xfrm>
            <a:off x="822960" y="5303520"/>
            <a:ext cx="10515600" cy="457200"/>
          </a:xfrm>
          <a:prstGeom prst="rect">
            <a:avLst/>
          </a:prstGeom>
          <a:noFill/>
          <a:ln/>
        </p:spPr>
        <p:txBody>
          <a:bodyPr wrap="square" lIns="0" tIns="0" rIns="0" bIns="0" rtlCol="0" anchor="ctr"/>
          <a:lstStyle/>
          <a:p>
            <a:pPr indent="0" marL="0">
              <a:buNone/>
            </a:pPr>
            <a:r>
              <a:rPr lang="en-US" sz="1600" b="1" dirty="0">
                <a:solidFill>
                  <a:srgbClr val="00FFA3"/>
                </a:solidFill>
                <a:latin typeface="Calibri" pitchFamily="34" charset="0"/>
                <a:ea typeface="Calibri" pitchFamily="34" charset="-122"/>
                <a:cs typeface="Calibri" pitchFamily="34" charset="-120"/>
              </a:rPr>
              <a:t>The gap: </a:t>
            </a:r>
            <a:pPr indent="0" marL="0">
              <a:buNone/>
            </a:pPr>
            <a:r>
              <a:rPr lang="en-US" sz="1600" dirty="0">
                <a:solidFill>
                  <a:srgbClr val="EAFFF6"/>
                </a:solidFill>
                <a:latin typeface="Calibri" pitchFamily="34" charset="0"/>
                <a:ea typeface="Calibri" pitchFamily="34" charset="-122"/>
                <a:cs typeface="Calibri" pitchFamily="34" charset="-120"/>
              </a:rPr>
              <a:t>no one owns the compliance-to-composability layer. Yet.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B09"/>
        </a:solidFill>
      </p:bgPr>
    </p:bg>
    <p:spTree>
      <p:nvGrpSpPr>
        <p:cNvPr id="1" name=""/>
        <p:cNvGrpSpPr/>
        <p:nvPr/>
      </p:nvGrpSpPr>
      <p:grpSpPr>
        <a:xfrm>
          <a:off x="0" y="0"/>
          <a:ext cx="0" cy="0"/>
          <a:chOff x="0" y="0"/>
          <a:chExt cx="0" cy="0"/>
        </a:xfrm>
      </p:grpSpPr>
      <p:sp>
        <p:nvSpPr>
          <p:cNvPr id="2" name="Text 0"/>
          <p:cNvSpPr/>
          <p:nvPr/>
        </p:nvSpPr>
        <p:spPr>
          <a:xfrm>
            <a:off x="457200" y="6446520"/>
            <a:ext cx="1828800" cy="274320"/>
          </a:xfrm>
          <a:prstGeom prst="rect">
            <a:avLst/>
          </a:prstGeom>
          <a:noFill/>
          <a:ln/>
        </p:spPr>
        <p:txBody>
          <a:bodyPr wrap="square" lIns="0" tIns="0" rIns="0" bIns="0" rtlCol="0" anchor="ctr"/>
          <a:lstStyle/>
          <a:p>
            <a:pPr indent="0" marL="0">
              <a:buNone/>
            </a:pPr>
            <a:r>
              <a:rPr lang="en-US" sz="1000" dirty="0">
                <a:solidFill>
                  <a:srgbClr val="7DA395"/>
                </a:solidFill>
                <a:latin typeface="Calibri" pitchFamily="34" charset="0"/>
                <a:ea typeface="Calibri" pitchFamily="34" charset="-122"/>
                <a:cs typeface="Calibri" pitchFamily="34" charset="-120"/>
              </a:rPr>
              <a:t>passage</a:t>
            </a:r>
            <a:pPr indent="0" marL="0">
              <a:buNone/>
            </a:pPr>
            <a:r>
              <a:rPr lang="en-US" sz="1000" dirty="0">
                <a:solidFill>
                  <a:srgbClr val="00FFA3"/>
                </a:solidFill>
                <a:latin typeface="Calibri" pitchFamily="34" charset="0"/>
                <a:ea typeface="Calibri" pitchFamily="34" charset="-122"/>
                <a:cs typeface="Calibri" pitchFamily="34" charset="-120"/>
              </a:rPr>
              <a:t>.</a:t>
            </a:r>
            <a:endParaRPr lang="en-US" sz="1000" dirty="0"/>
          </a:p>
        </p:txBody>
      </p:sp>
      <p:sp>
        <p:nvSpPr>
          <p:cNvPr id="3" name="Text 1"/>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1000" dirty="0">
                <a:solidFill>
                  <a:srgbClr val="7DA395"/>
                </a:solidFill>
                <a:latin typeface="Calibri" pitchFamily="34" charset="0"/>
                <a:ea typeface="Calibri" pitchFamily="34" charset="-122"/>
                <a:cs typeface="Calibri" pitchFamily="34" charset="-120"/>
              </a:rPr>
              <a:t>3</a:t>
            </a:r>
            <a:endParaRPr lang="en-US" sz="1000" dirty="0"/>
          </a:p>
        </p:txBody>
      </p:sp>
      <p:sp>
        <p:nvSpPr>
          <p:cNvPr id="4" name="Text 2"/>
          <p:cNvSpPr/>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AFFF6"/>
                </a:solidFill>
                <a:latin typeface="Calibri" pitchFamily="34" charset="0"/>
                <a:ea typeface="Calibri" pitchFamily="34" charset="-122"/>
                <a:cs typeface="Calibri" pitchFamily="34" charset="-120"/>
              </a:rPr>
              <a:t>Passage: compliance inside the token</a:t>
            </a:r>
            <a:endParaRPr lang="en-US" sz="3000" dirty="0"/>
          </a:p>
        </p:txBody>
      </p:sp>
      <p:sp>
        <p:nvSpPr>
          <p:cNvPr id="5" name="Text 3"/>
          <p:cNvSpPr/>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7DA395"/>
                </a:solidFill>
                <a:latin typeface="Calibri" pitchFamily="34" charset="0"/>
                <a:ea typeface="Calibri" pitchFamily="34" charset="-122"/>
                <a:cs typeface="Calibri" pitchFamily="34" charset="-120"/>
              </a:rPr>
              <a:t>Wrap once — compose everywhere</a:t>
            </a:r>
            <a:endParaRPr lang="en-US" sz="1400" dirty="0"/>
          </a:p>
        </p:txBody>
      </p:sp>
      <p:sp>
        <p:nvSpPr>
          <p:cNvPr id="6" name="Shape 4"/>
          <p:cNvSpPr/>
          <p:nvPr/>
        </p:nvSpPr>
        <p:spPr>
          <a:xfrm>
            <a:off x="548640" y="1645920"/>
            <a:ext cx="457200" cy="457200"/>
          </a:xfrm>
          <a:prstGeom prst="ellipse">
            <a:avLst/>
          </a:prstGeom>
          <a:solidFill>
            <a:srgbClr val="00FFA3"/>
          </a:solidFill>
          <a:ln/>
        </p:spPr>
      </p:sp>
      <p:sp>
        <p:nvSpPr>
          <p:cNvPr id="7" name="Text 5"/>
          <p:cNvSpPr/>
          <p:nvPr/>
        </p:nvSpPr>
        <p:spPr>
          <a:xfrm>
            <a:off x="548640" y="1645920"/>
            <a:ext cx="457200" cy="457200"/>
          </a:xfrm>
          <a:prstGeom prst="rect">
            <a:avLst/>
          </a:prstGeom>
          <a:noFill/>
          <a:ln/>
        </p:spPr>
        <p:txBody>
          <a:bodyPr wrap="square" lIns="0" tIns="0" rIns="0" bIns="0" rtlCol="0" anchor="ctr"/>
          <a:lstStyle/>
          <a:p>
            <a:pPr algn="ctr" indent="0" marL="0">
              <a:buNone/>
            </a:pPr>
            <a:r>
              <a:rPr lang="en-US" sz="1800" b="1" dirty="0">
                <a:solidFill>
                  <a:srgbClr val="04150D"/>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548640" y="2240280"/>
            <a:ext cx="3383280" cy="365760"/>
          </a:xfrm>
          <a:prstGeom prst="rect">
            <a:avLst/>
          </a:prstGeom>
          <a:noFill/>
          <a:ln/>
        </p:spPr>
        <p:txBody>
          <a:bodyPr wrap="square" lIns="0" tIns="0" rIns="0" bIns="0" rtlCol="0" anchor="ctr"/>
          <a:lstStyle/>
          <a:p>
            <a:pPr indent="0" marL="0">
              <a:buNone/>
            </a:pPr>
            <a:r>
              <a:rPr lang="en-US" sz="1700" b="1" dirty="0">
                <a:solidFill>
                  <a:srgbClr val="EAFFF6"/>
                </a:solidFill>
                <a:latin typeface="Calibri" pitchFamily="34" charset="0"/>
                <a:ea typeface="Calibri" pitchFamily="34" charset="-122"/>
                <a:cs typeface="Calibri" pitchFamily="34" charset="-120"/>
              </a:rPr>
              <a:t>Deposit a permissioned RWA</a:t>
            </a:r>
            <a:endParaRPr lang="en-US" sz="1700" dirty="0"/>
          </a:p>
        </p:txBody>
      </p:sp>
      <p:sp>
        <p:nvSpPr>
          <p:cNvPr id="9" name="Text 7"/>
          <p:cNvSpPr/>
          <p:nvPr/>
        </p:nvSpPr>
        <p:spPr>
          <a:xfrm>
            <a:off x="548640" y="2651760"/>
            <a:ext cx="3383280" cy="1188720"/>
          </a:xfrm>
          <a:prstGeom prst="rect">
            <a:avLst/>
          </a:prstGeom>
          <a:noFill/>
          <a:ln/>
        </p:spPr>
        <p:txBody>
          <a:bodyPr wrap="square" lIns="0" tIns="0" rIns="0" bIns="0" rtlCol="0" anchor="ctr"/>
          <a:lstStyle/>
          <a:p>
            <a:pPr indent="0" marL="0">
              <a:buNone/>
            </a:pPr>
            <a:r>
              <a:rPr lang="en-US" sz="1300" dirty="0">
                <a:solidFill>
                  <a:srgbClr val="7DA395"/>
                </a:solidFill>
                <a:latin typeface="Calibri" pitchFamily="34" charset="0"/>
                <a:ea typeface="Calibri" pitchFamily="34" charset="-122"/>
                <a:cs typeface="Calibri" pitchFamily="34" charset="-120"/>
              </a:rPr>
              <a:t>Tokenized T-bill, fund, or credit goes into the Passage vault. 1:1 backing, on-chain.</a:t>
            </a:r>
            <a:endParaRPr lang="en-US" sz="1300" dirty="0"/>
          </a:p>
        </p:txBody>
      </p:sp>
      <p:sp>
        <p:nvSpPr>
          <p:cNvPr id="10" name="Shape 8"/>
          <p:cNvSpPr/>
          <p:nvPr/>
        </p:nvSpPr>
        <p:spPr>
          <a:xfrm>
            <a:off x="4434840" y="1645920"/>
            <a:ext cx="457200" cy="457200"/>
          </a:xfrm>
          <a:prstGeom prst="ellipse">
            <a:avLst/>
          </a:prstGeom>
          <a:solidFill>
            <a:srgbClr val="00FFA3"/>
          </a:solidFill>
          <a:ln/>
        </p:spPr>
      </p:sp>
      <p:sp>
        <p:nvSpPr>
          <p:cNvPr id="11" name="Text 9"/>
          <p:cNvSpPr/>
          <p:nvPr/>
        </p:nvSpPr>
        <p:spPr>
          <a:xfrm>
            <a:off x="4434840" y="1645920"/>
            <a:ext cx="457200" cy="457200"/>
          </a:xfrm>
          <a:prstGeom prst="rect">
            <a:avLst/>
          </a:prstGeom>
          <a:noFill/>
          <a:ln/>
        </p:spPr>
        <p:txBody>
          <a:bodyPr wrap="square" lIns="0" tIns="0" rIns="0" bIns="0" rtlCol="0" anchor="ctr"/>
          <a:lstStyle/>
          <a:p>
            <a:pPr algn="ctr" indent="0" marL="0">
              <a:buNone/>
            </a:pPr>
            <a:r>
              <a:rPr lang="en-US" sz="1800" b="1" dirty="0">
                <a:solidFill>
                  <a:srgbClr val="04150D"/>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4434840" y="2240280"/>
            <a:ext cx="3383280" cy="365760"/>
          </a:xfrm>
          <a:prstGeom prst="rect">
            <a:avLst/>
          </a:prstGeom>
          <a:noFill/>
          <a:ln/>
        </p:spPr>
        <p:txBody>
          <a:bodyPr wrap="square" lIns="0" tIns="0" rIns="0" bIns="0" rtlCol="0" anchor="ctr"/>
          <a:lstStyle/>
          <a:p>
            <a:pPr indent="0" marL="0">
              <a:buNone/>
            </a:pPr>
            <a:r>
              <a:rPr lang="en-US" sz="1700" b="1" dirty="0">
                <a:solidFill>
                  <a:srgbClr val="EAFFF6"/>
                </a:solidFill>
                <a:latin typeface="Calibri" pitchFamily="34" charset="0"/>
                <a:ea typeface="Calibri" pitchFamily="34" charset="-122"/>
                <a:cs typeface="Calibri" pitchFamily="34" charset="-120"/>
              </a:rPr>
              <a:t>Receive a pToken</a:t>
            </a:r>
            <a:endParaRPr lang="en-US" sz="1700" dirty="0"/>
          </a:p>
        </p:txBody>
      </p:sp>
      <p:sp>
        <p:nvSpPr>
          <p:cNvPr id="13" name="Text 11"/>
          <p:cNvSpPr/>
          <p:nvPr/>
        </p:nvSpPr>
        <p:spPr>
          <a:xfrm>
            <a:off x="4434840" y="2651760"/>
            <a:ext cx="3383280" cy="1188720"/>
          </a:xfrm>
          <a:prstGeom prst="rect">
            <a:avLst/>
          </a:prstGeom>
          <a:noFill/>
          <a:ln/>
        </p:spPr>
        <p:txBody>
          <a:bodyPr wrap="square" lIns="0" tIns="0" rIns="0" bIns="0" rtlCol="0" anchor="ctr"/>
          <a:lstStyle/>
          <a:p>
            <a:pPr indent="0" marL="0">
              <a:buNone/>
            </a:pPr>
            <a:r>
              <a:rPr lang="en-US" sz="1300" dirty="0">
                <a:solidFill>
                  <a:srgbClr val="7DA395"/>
                </a:solidFill>
                <a:latin typeface="Calibri" pitchFamily="34" charset="0"/>
                <a:ea typeface="Calibri" pitchFamily="34" charset="-122"/>
                <a:cs typeface="Calibri" pitchFamily="34" charset="-120"/>
              </a:rPr>
              <a:t>A Token-2022 asset with a built-in transfer hook. Every transfer verifies the recipient's credential on-chain.</a:t>
            </a:r>
            <a:endParaRPr lang="en-US" sz="1300" dirty="0"/>
          </a:p>
        </p:txBody>
      </p:sp>
      <p:sp>
        <p:nvSpPr>
          <p:cNvPr id="14" name="Shape 12"/>
          <p:cNvSpPr/>
          <p:nvPr/>
        </p:nvSpPr>
        <p:spPr>
          <a:xfrm>
            <a:off x="8321040" y="1645920"/>
            <a:ext cx="457200" cy="457200"/>
          </a:xfrm>
          <a:prstGeom prst="ellipse">
            <a:avLst/>
          </a:prstGeom>
          <a:solidFill>
            <a:srgbClr val="00FFA3"/>
          </a:solidFill>
          <a:ln/>
        </p:spPr>
      </p:sp>
      <p:sp>
        <p:nvSpPr>
          <p:cNvPr id="15" name="Text 13"/>
          <p:cNvSpPr/>
          <p:nvPr/>
        </p:nvSpPr>
        <p:spPr>
          <a:xfrm>
            <a:off x="8321040" y="1645920"/>
            <a:ext cx="457200" cy="457200"/>
          </a:xfrm>
          <a:prstGeom prst="rect">
            <a:avLst/>
          </a:prstGeom>
          <a:noFill/>
          <a:ln/>
        </p:spPr>
        <p:txBody>
          <a:bodyPr wrap="square" lIns="0" tIns="0" rIns="0" bIns="0" rtlCol="0" anchor="ctr"/>
          <a:lstStyle/>
          <a:p>
            <a:pPr algn="ctr" indent="0" marL="0">
              <a:buNone/>
            </a:pPr>
            <a:r>
              <a:rPr lang="en-US" sz="1800" b="1" dirty="0">
                <a:solidFill>
                  <a:srgbClr val="04150D"/>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8321040" y="2240280"/>
            <a:ext cx="3383280" cy="365760"/>
          </a:xfrm>
          <a:prstGeom prst="rect">
            <a:avLst/>
          </a:prstGeom>
          <a:noFill/>
          <a:ln/>
        </p:spPr>
        <p:txBody>
          <a:bodyPr wrap="square" lIns="0" tIns="0" rIns="0" bIns="0" rtlCol="0" anchor="ctr"/>
          <a:lstStyle/>
          <a:p>
            <a:pPr indent="0" marL="0">
              <a:buNone/>
            </a:pPr>
            <a:r>
              <a:rPr lang="en-US" sz="1700" b="1" dirty="0">
                <a:solidFill>
                  <a:srgbClr val="EAFFF6"/>
                </a:solidFill>
                <a:latin typeface="Calibri" pitchFamily="34" charset="0"/>
                <a:ea typeface="Calibri" pitchFamily="34" charset="-122"/>
                <a:cs typeface="Calibri" pitchFamily="34" charset="-120"/>
              </a:rPr>
              <a:t>Compose freely</a:t>
            </a:r>
            <a:endParaRPr lang="en-US" sz="1700" dirty="0"/>
          </a:p>
        </p:txBody>
      </p:sp>
      <p:sp>
        <p:nvSpPr>
          <p:cNvPr id="17" name="Text 15"/>
          <p:cNvSpPr/>
          <p:nvPr/>
        </p:nvSpPr>
        <p:spPr>
          <a:xfrm>
            <a:off x="8321040" y="2651760"/>
            <a:ext cx="3383280" cy="1188720"/>
          </a:xfrm>
          <a:prstGeom prst="rect">
            <a:avLst/>
          </a:prstGeom>
          <a:noFill/>
          <a:ln/>
        </p:spPr>
        <p:txBody>
          <a:bodyPr wrap="square" lIns="0" tIns="0" rIns="0" bIns="0" rtlCol="0" anchor="ctr"/>
          <a:lstStyle/>
          <a:p>
            <a:pPr indent="0" marL="0">
              <a:buNone/>
            </a:pPr>
            <a:r>
              <a:rPr lang="en-US" sz="1300" dirty="0">
                <a:solidFill>
                  <a:srgbClr val="7DA395"/>
                </a:solidFill>
                <a:latin typeface="Calibri" pitchFamily="34" charset="0"/>
                <a:ea typeface="Calibri" pitchFamily="34" charset="-122"/>
                <a:cs typeface="Calibri" pitchFamily="34" charset="-120"/>
              </a:rPr>
              <a:t>Swap, lend, collateralize in any protocol. Only verified wallets can ever hold it — compliance is enforced by the token itself.</a:t>
            </a:r>
            <a:endParaRPr lang="en-US" sz="1300" dirty="0"/>
          </a:p>
        </p:txBody>
      </p:sp>
      <p:sp>
        <p:nvSpPr>
          <p:cNvPr id="18" name="Shape 16"/>
          <p:cNvSpPr/>
          <p:nvPr/>
        </p:nvSpPr>
        <p:spPr>
          <a:xfrm>
            <a:off x="3977640" y="1874520"/>
            <a:ext cx="365760" cy="0"/>
          </a:xfrm>
          <a:prstGeom prst="line">
            <a:avLst/>
          </a:prstGeom>
          <a:noFill/>
          <a:ln w="25400">
            <a:solidFill>
              <a:srgbClr val="00FFA3"/>
            </a:solidFill>
            <a:prstDash val="solid"/>
            <a:tailEnd type="triangle"/>
          </a:ln>
        </p:spPr>
      </p:sp>
      <p:sp>
        <p:nvSpPr>
          <p:cNvPr id="19" name="Shape 17"/>
          <p:cNvSpPr/>
          <p:nvPr/>
        </p:nvSpPr>
        <p:spPr>
          <a:xfrm>
            <a:off x="7863840" y="1874520"/>
            <a:ext cx="365760" cy="0"/>
          </a:xfrm>
          <a:prstGeom prst="line">
            <a:avLst/>
          </a:prstGeom>
          <a:noFill/>
          <a:ln w="25400">
            <a:solidFill>
              <a:srgbClr val="00FFA3"/>
            </a:solidFill>
            <a:prstDash val="solid"/>
            <a:tailEnd type="triangle"/>
          </a:ln>
        </p:spPr>
      </p:sp>
      <p:sp>
        <p:nvSpPr>
          <p:cNvPr id="20" name="Shape 18"/>
          <p:cNvSpPr/>
          <p:nvPr/>
        </p:nvSpPr>
        <p:spPr>
          <a:xfrm>
            <a:off x="548640" y="4114800"/>
            <a:ext cx="11064240" cy="1737360"/>
          </a:xfrm>
          <a:prstGeom prst="roundRect">
            <a:avLst>
              <a:gd name="adj" fmla="val 6316"/>
            </a:avLst>
          </a:prstGeom>
          <a:solidFill>
            <a:srgbClr val="0C1410"/>
          </a:solidFill>
          <a:ln w="12700">
            <a:solidFill>
              <a:srgbClr val="1C3229"/>
            </a:solidFill>
            <a:prstDash val="solid"/>
          </a:ln>
        </p:spPr>
      </p:sp>
      <p:sp>
        <p:nvSpPr>
          <p:cNvPr id="21" name="Text 19"/>
          <p:cNvSpPr/>
          <p:nvPr/>
        </p:nvSpPr>
        <p:spPr>
          <a:xfrm>
            <a:off x="822960" y="4343400"/>
            <a:ext cx="10515600" cy="365760"/>
          </a:xfrm>
          <a:prstGeom prst="rect">
            <a:avLst/>
          </a:prstGeom>
          <a:noFill/>
          <a:ln/>
        </p:spPr>
        <p:txBody>
          <a:bodyPr wrap="square" lIns="0" tIns="0" rIns="0" bIns="0" rtlCol="0" anchor="ctr"/>
          <a:lstStyle/>
          <a:p>
            <a:pPr indent="0" marL="0">
              <a:buNone/>
            </a:pPr>
            <a:r>
              <a:rPr lang="en-US" sz="1500" b="1" dirty="0">
                <a:solidFill>
                  <a:srgbClr val="00FFA3"/>
                </a:solidFill>
                <a:latin typeface="Calibri" pitchFamily="34" charset="0"/>
                <a:ea typeface="Calibri" pitchFamily="34" charset="-122"/>
                <a:cs typeface="Calibri" pitchFamily="34" charset="-120"/>
              </a:rPr>
              <a:t>Why issuers say yes</a:t>
            </a:r>
            <a:endParaRPr lang="en-US" sz="1500" dirty="0"/>
          </a:p>
        </p:txBody>
      </p:sp>
      <p:sp>
        <p:nvSpPr>
          <p:cNvPr id="22" name="Text 20"/>
          <p:cNvSpPr/>
          <p:nvPr/>
        </p:nvSpPr>
        <p:spPr>
          <a:xfrm>
            <a:off x="822960" y="4754880"/>
            <a:ext cx="10515600" cy="914400"/>
          </a:xfrm>
          <a:prstGeom prst="rect">
            <a:avLst/>
          </a:prstGeom>
          <a:noFill/>
          <a:ln/>
        </p:spPr>
        <p:txBody>
          <a:bodyPr wrap="square" lIns="0" tIns="0" rIns="0" bIns="0" rtlCol="0" anchor="ctr"/>
          <a:lstStyle/>
          <a:p>
            <a:pPr indent="0" marL="0">
              <a:buNone/>
            </a:pPr>
            <a:r>
              <a:rPr lang="en-US" sz="1400" dirty="0">
                <a:solidFill>
                  <a:srgbClr val="7DA395"/>
                </a:solidFill>
                <a:latin typeface="Calibri" pitchFamily="34" charset="0"/>
                <a:ea typeface="Calibri" pitchFamily="34" charset="-122"/>
                <a:cs typeface="Calibri" pitchFamily="34" charset="-120"/>
              </a:rPr>
              <a:t>Passage doesn't compete with BlackRock, Ondo, or Centrifuge — it makes their assets more valuable. Neutral infrastructure, one integration, every DeFi venue. Regulators get an auditable, on-chain KYC trail on every single transfer.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B09"/>
        </a:solidFill>
      </p:bgPr>
    </p:bg>
    <p:spTree>
      <p:nvGrpSpPr>
        <p:cNvPr id="1" name=""/>
        <p:cNvGrpSpPr/>
        <p:nvPr/>
      </p:nvGrpSpPr>
      <p:grpSpPr>
        <a:xfrm>
          <a:off x="0" y="0"/>
          <a:ext cx="0" cy="0"/>
          <a:chOff x="0" y="0"/>
          <a:chExt cx="0" cy="0"/>
        </a:xfrm>
      </p:grpSpPr>
      <p:sp>
        <p:nvSpPr>
          <p:cNvPr id="2" name="Text 0"/>
          <p:cNvSpPr/>
          <p:nvPr/>
        </p:nvSpPr>
        <p:spPr>
          <a:xfrm>
            <a:off x="457200" y="6446520"/>
            <a:ext cx="1828800" cy="274320"/>
          </a:xfrm>
          <a:prstGeom prst="rect">
            <a:avLst/>
          </a:prstGeom>
          <a:noFill/>
          <a:ln/>
        </p:spPr>
        <p:txBody>
          <a:bodyPr wrap="square" lIns="0" tIns="0" rIns="0" bIns="0" rtlCol="0" anchor="ctr"/>
          <a:lstStyle/>
          <a:p>
            <a:pPr indent="0" marL="0">
              <a:buNone/>
            </a:pPr>
            <a:r>
              <a:rPr lang="en-US" sz="1000" dirty="0">
                <a:solidFill>
                  <a:srgbClr val="7DA395"/>
                </a:solidFill>
                <a:latin typeface="Calibri" pitchFamily="34" charset="0"/>
                <a:ea typeface="Calibri" pitchFamily="34" charset="-122"/>
                <a:cs typeface="Calibri" pitchFamily="34" charset="-120"/>
              </a:rPr>
              <a:t>passage</a:t>
            </a:r>
            <a:pPr indent="0" marL="0">
              <a:buNone/>
            </a:pPr>
            <a:r>
              <a:rPr lang="en-US" sz="1000" dirty="0">
                <a:solidFill>
                  <a:srgbClr val="00FFA3"/>
                </a:solidFill>
                <a:latin typeface="Calibri" pitchFamily="34" charset="0"/>
                <a:ea typeface="Calibri" pitchFamily="34" charset="-122"/>
                <a:cs typeface="Calibri" pitchFamily="34" charset="-120"/>
              </a:rPr>
              <a:t>.</a:t>
            </a:r>
            <a:endParaRPr lang="en-US" sz="1000" dirty="0"/>
          </a:p>
        </p:txBody>
      </p:sp>
      <p:sp>
        <p:nvSpPr>
          <p:cNvPr id="3" name="Text 1"/>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1000" dirty="0">
                <a:solidFill>
                  <a:srgbClr val="7DA395"/>
                </a:solidFill>
                <a:latin typeface="Calibri" pitchFamily="34" charset="0"/>
                <a:ea typeface="Calibri" pitchFamily="34" charset="-122"/>
                <a:cs typeface="Calibri" pitchFamily="34" charset="-120"/>
              </a:rPr>
              <a:t>4</a:t>
            </a:r>
            <a:endParaRPr lang="en-US" sz="1000" dirty="0"/>
          </a:p>
        </p:txBody>
      </p:sp>
      <p:sp>
        <p:nvSpPr>
          <p:cNvPr id="4" name="Text 2"/>
          <p:cNvSpPr/>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AFFF6"/>
                </a:solidFill>
                <a:latin typeface="Calibri" pitchFamily="34" charset="0"/>
                <a:ea typeface="Calibri" pitchFamily="34" charset="-122"/>
                <a:cs typeface="Calibri" pitchFamily="34" charset="-120"/>
              </a:rPr>
              <a:t>Not a whitepaper — a working protocol</a:t>
            </a:r>
            <a:endParaRPr lang="en-US" sz="3000" dirty="0"/>
          </a:p>
        </p:txBody>
      </p:sp>
      <p:sp>
        <p:nvSpPr>
          <p:cNvPr id="5" name="Text 3"/>
          <p:cNvSpPr/>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7DA395"/>
                </a:solidFill>
                <a:latin typeface="Calibri" pitchFamily="34" charset="0"/>
                <a:ea typeface="Calibri" pitchFamily="34" charset="-122"/>
                <a:cs typeface="Calibri" pitchFamily="34" charset="-120"/>
              </a:rPr>
              <a:t>Built and tested on Solana</a:t>
            </a:r>
            <a:endParaRPr lang="en-US" sz="1400" dirty="0"/>
          </a:p>
        </p:txBody>
      </p:sp>
      <p:sp>
        <p:nvSpPr>
          <p:cNvPr id="6" name="Shape 4"/>
          <p:cNvSpPr/>
          <p:nvPr/>
        </p:nvSpPr>
        <p:spPr>
          <a:xfrm>
            <a:off x="548640" y="1508760"/>
            <a:ext cx="5394960" cy="1234440"/>
          </a:xfrm>
          <a:prstGeom prst="roundRect">
            <a:avLst>
              <a:gd name="adj" fmla="val 8889"/>
            </a:avLst>
          </a:prstGeom>
          <a:solidFill>
            <a:srgbClr val="0C1410"/>
          </a:solidFill>
          <a:ln w="12700">
            <a:solidFill>
              <a:srgbClr val="1C3229"/>
            </a:solidFill>
            <a:prstDash val="solid"/>
          </a:ln>
        </p:spPr>
      </p:sp>
      <p:sp>
        <p:nvSpPr>
          <p:cNvPr id="7" name="Text 5"/>
          <p:cNvSpPr/>
          <p:nvPr/>
        </p:nvSpPr>
        <p:spPr>
          <a:xfrm>
            <a:off x="822960" y="1673352"/>
            <a:ext cx="4846320" cy="365760"/>
          </a:xfrm>
          <a:prstGeom prst="rect">
            <a:avLst/>
          </a:prstGeom>
          <a:noFill/>
          <a:ln/>
        </p:spPr>
        <p:txBody>
          <a:bodyPr wrap="square" lIns="0" tIns="0" rIns="0" bIns="0" rtlCol="0" anchor="ctr"/>
          <a:lstStyle/>
          <a:p>
            <a:pPr indent="0" marL="0">
              <a:buNone/>
            </a:pPr>
            <a:r>
              <a:rPr lang="en-US" sz="1400" b="1" dirty="0">
                <a:solidFill>
                  <a:srgbClr val="00FFA3"/>
                </a:solidFill>
                <a:latin typeface="Courier New" pitchFamily="34" charset="0"/>
                <a:ea typeface="Courier New" pitchFamily="34" charset="-122"/>
                <a:cs typeface="Courier New" pitchFamily="34" charset="-120"/>
              </a:rPr>
              <a:t>passage_wrapper</a:t>
            </a:r>
            <a:endParaRPr lang="en-US" sz="1400" dirty="0"/>
          </a:p>
        </p:txBody>
      </p:sp>
      <p:sp>
        <p:nvSpPr>
          <p:cNvPr id="8" name="Text 6"/>
          <p:cNvSpPr/>
          <p:nvPr/>
        </p:nvSpPr>
        <p:spPr>
          <a:xfrm>
            <a:off x="822960" y="2057400"/>
            <a:ext cx="4846320" cy="548640"/>
          </a:xfrm>
          <a:prstGeom prst="rect">
            <a:avLst/>
          </a:prstGeom>
          <a:noFill/>
          <a:ln/>
        </p:spPr>
        <p:txBody>
          <a:bodyPr wrap="square" lIns="0" tIns="0" rIns="0" bIns="0" rtlCol="0" anchor="ctr"/>
          <a:lstStyle/>
          <a:p>
            <a:pPr indent="0" marL="0">
              <a:buNone/>
            </a:pPr>
            <a:r>
              <a:rPr lang="en-US" sz="1200" dirty="0">
                <a:solidFill>
                  <a:srgbClr val="7DA395"/>
                </a:solidFill>
                <a:latin typeface="Calibri" pitchFamily="34" charset="0"/>
                <a:ea typeface="Calibri" pitchFamily="34" charset="-122"/>
                <a:cs typeface="Calibri" pitchFamily="34" charset="-120"/>
              </a:rPr>
              <a:t>Vault: wrap/unwrap 1:1, fee accrual, treasury collection</a:t>
            </a:r>
            <a:endParaRPr lang="en-US" sz="1200" dirty="0"/>
          </a:p>
        </p:txBody>
      </p:sp>
      <p:sp>
        <p:nvSpPr>
          <p:cNvPr id="9" name="Shape 7"/>
          <p:cNvSpPr/>
          <p:nvPr/>
        </p:nvSpPr>
        <p:spPr>
          <a:xfrm>
            <a:off x="6263640" y="1508760"/>
            <a:ext cx="5394960" cy="1234440"/>
          </a:xfrm>
          <a:prstGeom prst="roundRect">
            <a:avLst>
              <a:gd name="adj" fmla="val 8889"/>
            </a:avLst>
          </a:prstGeom>
          <a:solidFill>
            <a:srgbClr val="0C1410"/>
          </a:solidFill>
          <a:ln w="12700">
            <a:solidFill>
              <a:srgbClr val="1C3229"/>
            </a:solidFill>
            <a:prstDash val="solid"/>
          </a:ln>
        </p:spPr>
      </p:sp>
      <p:sp>
        <p:nvSpPr>
          <p:cNvPr id="10" name="Text 8"/>
          <p:cNvSpPr/>
          <p:nvPr/>
        </p:nvSpPr>
        <p:spPr>
          <a:xfrm>
            <a:off x="6537960" y="1673352"/>
            <a:ext cx="4846320" cy="365760"/>
          </a:xfrm>
          <a:prstGeom prst="rect">
            <a:avLst/>
          </a:prstGeom>
          <a:noFill/>
          <a:ln/>
        </p:spPr>
        <p:txBody>
          <a:bodyPr wrap="square" lIns="0" tIns="0" rIns="0" bIns="0" rtlCol="0" anchor="ctr"/>
          <a:lstStyle/>
          <a:p>
            <a:pPr indent="0" marL="0">
              <a:buNone/>
            </a:pPr>
            <a:r>
              <a:rPr lang="en-US" sz="1400" b="1" dirty="0">
                <a:solidFill>
                  <a:srgbClr val="00FFA3"/>
                </a:solidFill>
                <a:latin typeface="Courier New" pitchFamily="34" charset="0"/>
                <a:ea typeface="Courier New" pitchFamily="34" charset="-122"/>
                <a:cs typeface="Courier New" pitchFamily="34" charset="-120"/>
              </a:rPr>
              <a:t>passage_identity</a:t>
            </a:r>
            <a:endParaRPr lang="en-US" sz="1400" dirty="0"/>
          </a:p>
        </p:txBody>
      </p:sp>
      <p:sp>
        <p:nvSpPr>
          <p:cNvPr id="11" name="Text 9"/>
          <p:cNvSpPr/>
          <p:nvPr/>
        </p:nvSpPr>
        <p:spPr>
          <a:xfrm>
            <a:off x="6537960" y="2057400"/>
            <a:ext cx="4846320" cy="548640"/>
          </a:xfrm>
          <a:prstGeom prst="rect">
            <a:avLst/>
          </a:prstGeom>
          <a:noFill/>
          <a:ln/>
        </p:spPr>
        <p:txBody>
          <a:bodyPr wrap="square" lIns="0" tIns="0" rIns="0" bIns="0" rtlCol="0" anchor="ctr"/>
          <a:lstStyle/>
          <a:p>
            <a:pPr indent="0" marL="0">
              <a:buNone/>
            </a:pPr>
            <a:r>
              <a:rPr lang="en-US" sz="1200" dirty="0">
                <a:solidFill>
                  <a:srgbClr val="7DA395"/>
                </a:solidFill>
                <a:latin typeface="Calibri" pitchFamily="34" charset="0"/>
                <a:ea typeface="Calibri" pitchFamily="34" charset="-122"/>
                <a:cs typeface="Calibri" pitchFamily="34" charset="-120"/>
              </a:rPr>
              <a:t>Credential registry: verify &amp; revoke wallets (KYC attestations)</a:t>
            </a:r>
            <a:endParaRPr lang="en-US" sz="1200" dirty="0"/>
          </a:p>
        </p:txBody>
      </p:sp>
      <p:sp>
        <p:nvSpPr>
          <p:cNvPr id="12" name="Shape 10"/>
          <p:cNvSpPr/>
          <p:nvPr/>
        </p:nvSpPr>
        <p:spPr>
          <a:xfrm>
            <a:off x="548640" y="2880360"/>
            <a:ext cx="5394960" cy="1234440"/>
          </a:xfrm>
          <a:prstGeom prst="roundRect">
            <a:avLst>
              <a:gd name="adj" fmla="val 8889"/>
            </a:avLst>
          </a:prstGeom>
          <a:solidFill>
            <a:srgbClr val="0C1410"/>
          </a:solidFill>
          <a:ln w="12700">
            <a:solidFill>
              <a:srgbClr val="1C3229"/>
            </a:solidFill>
            <a:prstDash val="solid"/>
          </a:ln>
        </p:spPr>
      </p:sp>
      <p:sp>
        <p:nvSpPr>
          <p:cNvPr id="13" name="Text 11"/>
          <p:cNvSpPr/>
          <p:nvPr/>
        </p:nvSpPr>
        <p:spPr>
          <a:xfrm>
            <a:off x="822960" y="3044952"/>
            <a:ext cx="4846320" cy="365760"/>
          </a:xfrm>
          <a:prstGeom prst="rect">
            <a:avLst/>
          </a:prstGeom>
          <a:noFill/>
          <a:ln/>
        </p:spPr>
        <p:txBody>
          <a:bodyPr wrap="square" lIns="0" tIns="0" rIns="0" bIns="0" rtlCol="0" anchor="ctr"/>
          <a:lstStyle/>
          <a:p>
            <a:pPr indent="0" marL="0">
              <a:buNone/>
            </a:pPr>
            <a:r>
              <a:rPr lang="en-US" sz="1400" b="1" dirty="0">
                <a:solidFill>
                  <a:srgbClr val="00FFA3"/>
                </a:solidFill>
                <a:latin typeface="Courier New" pitchFamily="34" charset="0"/>
                <a:ea typeface="Courier New" pitchFamily="34" charset="-122"/>
                <a:cs typeface="Courier New" pitchFamily="34" charset="-120"/>
              </a:rPr>
              <a:t>passage_hook</a:t>
            </a:r>
            <a:endParaRPr lang="en-US" sz="1400" dirty="0"/>
          </a:p>
        </p:txBody>
      </p:sp>
      <p:sp>
        <p:nvSpPr>
          <p:cNvPr id="14" name="Text 12"/>
          <p:cNvSpPr/>
          <p:nvPr/>
        </p:nvSpPr>
        <p:spPr>
          <a:xfrm>
            <a:off x="822960" y="3429000"/>
            <a:ext cx="4846320" cy="548640"/>
          </a:xfrm>
          <a:prstGeom prst="rect">
            <a:avLst/>
          </a:prstGeom>
          <a:noFill/>
          <a:ln/>
        </p:spPr>
        <p:txBody>
          <a:bodyPr wrap="square" lIns="0" tIns="0" rIns="0" bIns="0" rtlCol="0" anchor="ctr"/>
          <a:lstStyle/>
          <a:p>
            <a:pPr indent="0" marL="0">
              <a:buNone/>
            </a:pPr>
            <a:r>
              <a:rPr lang="en-US" sz="1200" dirty="0">
                <a:solidFill>
                  <a:srgbClr val="7DA395"/>
                </a:solidFill>
                <a:latin typeface="Calibri" pitchFamily="34" charset="0"/>
                <a:ea typeface="Calibri" pitchFamily="34" charset="-122"/>
                <a:cs typeface="Calibri" pitchFamily="34" charset="-120"/>
              </a:rPr>
              <a:t>Token-2022 transfer hook: blocks any transfer to unverified wallets</a:t>
            </a:r>
            <a:endParaRPr lang="en-US" sz="1200" dirty="0"/>
          </a:p>
        </p:txBody>
      </p:sp>
      <p:sp>
        <p:nvSpPr>
          <p:cNvPr id="15" name="Shape 13"/>
          <p:cNvSpPr/>
          <p:nvPr/>
        </p:nvSpPr>
        <p:spPr>
          <a:xfrm>
            <a:off x="6263640" y="2880360"/>
            <a:ext cx="5394960" cy="1234440"/>
          </a:xfrm>
          <a:prstGeom prst="roundRect">
            <a:avLst>
              <a:gd name="adj" fmla="val 8889"/>
            </a:avLst>
          </a:prstGeom>
          <a:solidFill>
            <a:srgbClr val="0C1410"/>
          </a:solidFill>
          <a:ln w="12700">
            <a:solidFill>
              <a:srgbClr val="1C3229"/>
            </a:solidFill>
            <a:prstDash val="solid"/>
          </a:ln>
        </p:spPr>
      </p:sp>
      <p:sp>
        <p:nvSpPr>
          <p:cNvPr id="16" name="Text 14"/>
          <p:cNvSpPr/>
          <p:nvPr/>
        </p:nvSpPr>
        <p:spPr>
          <a:xfrm>
            <a:off x="6537960" y="3044952"/>
            <a:ext cx="4846320" cy="365760"/>
          </a:xfrm>
          <a:prstGeom prst="rect">
            <a:avLst/>
          </a:prstGeom>
          <a:noFill/>
          <a:ln/>
        </p:spPr>
        <p:txBody>
          <a:bodyPr wrap="square" lIns="0" tIns="0" rIns="0" bIns="0" rtlCol="0" anchor="ctr"/>
          <a:lstStyle/>
          <a:p>
            <a:pPr indent="0" marL="0">
              <a:buNone/>
            </a:pPr>
            <a:r>
              <a:rPr lang="en-US" sz="1400" b="1" dirty="0">
                <a:solidFill>
                  <a:srgbClr val="00FFA3"/>
                </a:solidFill>
                <a:latin typeface="Courier New" pitchFamily="34" charset="0"/>
                <a:ea typeface="Courier New" pitchFamily="34" charset="-122"/>
                <a:cs typeface="Courier New" pitchFamily="34" charset="-120"/>
              </a:rPr>
              <a:t>passage_pool</a:t>
            </a:r>
            <a:endParaRPr lang="en-US" sz="1400" dirty="0"/>
          </a:p>
        </p:txBody>
      </p:sp>
      <p:sp>
        <p:nvSpPr>
          <p:cNvPr id="17" name="Text 15"/>
          <p:cNvSpPr/>
          <p:nvPr/>
        </p:nvSpPr>
        <p:spPr>
          <a:xfrm>
            <a:off x="6537960" y="3429000"/>
            <a:ext cx="4846320" cy="548640"/>
          </a:xfrm>
          <a:prstGeom prst="rect">
            <a:avLst/>
          </a:prstGeom>
          <a:noFill/>
          <a:ln/>
        </p:spPr>
        <p:txBody>
          <a:bodyPr wrap="square" lIns="0" tIns="0" rIns="0" bIns="0" rtlCol="0" anchor="ctr"/>
          <a:lstStyle/>
          <a:p>
            <a:pPr indent="0" marL="0">
              <a:buNone/>
            </a:pPr>
            <a:r>
              <a:rPr lang="en-US" sz="1200" dirty="0">
                <a:solidFill>
                  <a:srgbClr val="7DA395"/>
                </a:solidFill>
                <a:latin typeface="Calibri" pitchFamily="34" charset="0"/>
                <a:ea typeface="Calibri" pitchFamily="34" charset="-122"/>
                <a:cs typeface="Calibri" pitchFamily="34" charset="-120"/>
              </a:rPr>
              <a:t>Gated AMM: swap pTokens vs USDC — LPs earn, everyone stays verified</a:t>
            </a:r>
            <a:endParaRPr lang="en-US" sz="1200" dirty="0"/>
          </a:p>
        </p:txBody>
      </p:sp>
      <p:sp>
        <p:nvSpPr>
          <p:cNvPr id="18" name="Text 16"/>
          <p:cNvSpPr/>
          <p:nvPr/>
        </p:nvSpPr>
        <p:spPr>
          <a:xfrm>
            <a:off x="1097280" y="4480560"/>
            <a:ext cx="2743200" cy="731520"/>
          </a:xfrm>
          <a:prstGeom prst="rect">
            <a:avLst/>
          </a:prstGeom>
          <a:noFill/>
          <a:ln/>
        </p:spPr>
        <p:txBody>
          <a:bodyPr wrap="square" lIns="0" tIns="0" rIns="0" bIns="0" rtlCol="0" anchor="ctr"/>
          <a:lstStyle/>
          <a:p>
            <a:pPr algn="ctr" indent="0" marL="0">
              <a:buNone/>
            </a:pPr>
            <a:r>
              <a:rPr lang="en-US" sz="4000" b="1" dirty="0">
                <a:solidFill>
                  <a:srgbClr val="00FFA3"/>
                </a:solidFill>
                <a:latin typeface="Calibri" pitchFamily="34" charset="0"/>
                <a:ea typeface="Calibri" pitchFamily="34" charset="-122"/>
                <a:cs typeface="Calibri" pitchFamily="34" charset="-120"/>
              </a:rPr>
              <a:t>4</a:t>
            </a:r>
            <a:endParaRPr lang="en-US" sz="4000" dirty="0"/>
          </a:p>
        </p:txBody>
      </p:sp>
      <p:sp>
        <p:nvSpPr>
          <p:cNvPr id="19" name="Text 17"/>
          <p:cNvSpPr/>
          <p:nvPr/>
        </p:nvSpPr>
        <p:spPr>
          <a:xfrm>
            <a:off x="1097280" y="5212080"/>
            <a:ext cx="2743200" cy="548640"/>
          </a:xfrm>
          <a:prstGeom prst="rect">
            <a:avLst/>
          </a:prstGeom>
          <a:noFill/>
          <a:ln/>
        </p:spPr>
        <p:txBody>
          <a:bodyPr wrap="square" lIns="0" tIns="0" rIns="0" bIns="0" rtlCol="0" anchor="ctr"/>
          <a:lstStyle/>
          <a:p>
            <a:pPr algn="ctr" indent="0" marL="0">
              <a:buNone/>
            </a:pPr>
            <a:r>
              <a:rPr lang="en-US" sz="1200" dirty="0">
                <a:solidFill>
                  <a:srgbClr val="7DA395"/>
                </a:solidFill>
                <a:latin typeface="Calibri" pitchFamily="34" charset="0"/>
                <a:ea typeface="Calibri" pitchFamily="34" charset="-122"/>
                <a:cs typeface="Calibri" pitchFamily="34" charset="-120"/>
              </a:rPr>
              <a:t>on-chain programs</a:t>
            </a:r>
            <a:endParaRPr lang="en-US" sz="1200" dirty="0"/>
          </a:p>
          <a:p>
            <a:pPr algn="ctr" indent="0" marL="0">
              <a:buNone/>
            </a:pPr>
            <a:r>
              <a:rPr lang="en-US" sz="1200" dirty="0">
                <a:solidFill>
                  <a:srgbClr val="7DA395"/>
                </a:solidFill>
                <a:latin typeface="Calibri" pitchFamily="34" charset="0"/>
                <a:ea typeface="Calibri" pitchFamily="34" charset="-122"/>
                <a:cs typeface="Calibri" pitchFamily="34" charset="-120"/>
              </a:rPr>
              <a:t>(Rust / Anchor)</a:t>
            </a:r>
            <a:endParaRPr lang="en-US" sz="1200" dirty="0"/>
          </a:p>
        </p:txBody>
      </p:sp>
      <p:sp>
        <p:nvSpPr>
          <p:cNvPr id="20" name="Text 18"/>
          <p:cNvSpPr/>
          <p:nvPr/>
        </p:nvSpPr>
        <p:spPr>
          <a:xfrm>
            <a:off x="4709160" y="4480560"/>
            <a:ext cx="2743200" cy="731520"/>
          </a:xfrm>
          <a:prstGeom prst="rect">
            <a:avLst/>
          </a:prstGeom>
          <a:noFill/>
          <a:ln/>
        </p:spPr>
        <p:txBody>
          <a:bodyPr wrap="square" lIns="0" tIns="0" rIns="0" bIns="0" rtlCol="0" anchor="ctr"/>
          <a:lstStyle/>
          <a:p>
            <a:pPr algn="ctr" indent="0" marL="0">
              <a:buNone/>
            </a:pPr>
            <a:r>
              <a:rPr lang="en-US" sz="4000" b="1" dirty="0">
                <a:solidFill>
                  <a:srgbClr val="00FFA3"/>
                </a:solidFill>
                <a:latin typeface="Calibri" pitchFamily="34" charset="0"/>
                <a:ea typeface="Calibri" pitchFamily="34" charset="-122"/>
                <a:cs typeface="Calibri" pitchFamily="34" charset="-120"/>
              </a:rPr>
              <a:t>14</a:t>
            </a:r>
            <a:endParaRPr lang="en-US" sz="4000" dirty="0"/>
          </a:p>
        </p:txBody>
      </p:sp>
      <p:sp>
        <p:nvSpPr>
          <p:cNvPr id="21" name="Text 19"/>
          <p:cNvSpPr/>
          <p:nvPr/>
        </p:nvSpPr>
        <p:spPr>
          <a:xfrm>
            <a:off x="4709160" y="5212080"/>
            <a:ext cx="2743200" cy="548640"/>
          </a:xfrm>
          <a:prstGeom prst="rect">
            <a:avLst/>
          </a:prstGeom>
          <a:noFill/>
          <a:ln/>
        </p:spPr>
        <p:txBody>
          <a:bodyPr wrap="square" lIns="0" tIns="0" rIns="0" bIns="0" rtlCol="0" anchor="ctr"/>
          <a:lstStyle/>
          <a:p>
            <a:pPr algn="ctr" indent="0" marL="0">
              <a:buNone/>
            </a:pPr>
            <a:r>
              <a:rPr lang="en-US" sz="1200" dirty="0">
                <a:solidFill>
                  <a:srgbClr val="7DA395"/>
                </a:solidFill>
                <a:latin typeface="Calibri" pitchFamily="34" charset="0"/>
                <a:ea typeface="Calibri" pitchFamily="34" charset="-122"/>
                <a:cs typeface="Calibri" pitchFamily="34" charset="-120"/>
              </a:rPr>
              <a:t>integration tests, all passing</a:t>
            </a:r>
            <a:endParaRPr lang="en-US" sz="1200" dirty="0"/>
          </a:p>
          <a:p>
            <a:pPr algn="ctr" indent="0" marL="0">
              <a:buNone/>
            </a:pPr>
            <a:r>
              <a:rPr lang="en-US" sz="1200" dirty="0">
                <a:solidFill>
                  <a:srgbClr val="7DA395"/>
                </a:solidFill>
                <a:latin typeface="Calibri" pitchFamily="34" charset="0"/>
                <a:ea typeface="Calibri" pitchFamily="34" charset="-122"/>
                <a:cs typeface="Calibri" pitchFamily="34" charset="-120"/>
              </a:rPr>
              <a:t>incl. compliance blocking</a:t>
            </a:r>
            <a:endParaRPr lang="en-US" sz="1200" dirty="0"/>
          </a:p>
        </p:txBody>
      </p:sp>
      <p:sp>
        <p:nvSpPr>
          <p:cNvPr id="22" name="Text 20"/>
          <p:cNvSpPr/>
          <p:nvPr/>
        </p:nvSpPr>
        <p:spPr>
          <a:xfrm>
            <a:off x="8321040" y="4480560"/>
            <a:ext cx="2743200" cy="731520"/>
          </a:xfrm>
          <a:prstGeom prst="rect">
            <a:avLst/>
          </a:prstGeom>
          <a:noFill/>
          <a:ln/>
        </p:spPr>
        <p:txBody>
          <a:bodyPr wrap="square" lIns="0" tIns="0" rIns="0" bIns="0" rtlCol="0" anchor="ctr"/>
          <a:lstStyle/>
          <a:p>
            <a:pPr algn="ctr" indent="0" marL="0">
              <a:buNone/>
            </a:pPr>
            <a:r>
              <a:rPr lang="en-US" sz="4000" b="1" dirty="0">
                <a:solidFill>
                  <a:srgbClr val="00FFA3"/>
                </a:solidFill>
                <a:latin typeface="Calibri" pitchFamily="34" charset="0"/>
                <a:ea typeface="Calibri" pitchFamily="34" charset="-122"/>
                <a:cs typeface="Calibri" pitchFamily="34" charset="-120"/>
              </a:rPr>
              <a:t>100%</a:t>
            </a:r>
            <a:endParaRPr lang="en-US" sz="4000" dirty="0"/>
          </a:p>
        </p:txBody>
      </p:sp>
      <p:sp>
        <p:nvSpPr>
          <p:cNvPr id="23" name="Text 21"/>
          <p:cNvSpPr/>
          <p:nvPr/>
        </p:nvSpPr>
        <p:spPr>
          <a:xfrm>
            <a:off x="8321040" y="5212080"/>
            <a:ext cx="2743200" cy="548640"/>
          </a:xfrm>
          <a:prstGeom prst="rect">
            <a:avLst/>
          </a:prstGeom>
          <a:noFill/>
          <a:ln/>
        </p:spPr>
        <p:txBody>
          <a:bodyPr wrap="square" lIns="0" tIns="0" rIns="0" bIns="0" rtlCol="0" anchor="ctr"/>
          <a:lstStyle/>
          <a:p>
            <a:pPr algn="ctr" indent="0" marL="0">
              <a:buNone/>
            </a:pPr>
            <a:r>
              <a:rPr lang="en-US" sz="1200" dirty="0">
                <a:solidFill>
                  <a:srgbClr val="7DA395"/>
                </a:solidFill>
                <a:latin typeface="Calibri" pitchFamily="34" charset="0"/>
                <a:ea typeface="Calibri" pitchFamily="34" charset="-122"/>
                <a:cs typeface="Calibri" pitchFamily="34" charset="-120"/>
              </a:rPr>
              <a:t>open source</a:t>
            </a:r>
            <a:endParaRPr lang="en-US" sz="1200" dirty="0"/>
          </a:p>
          <a:p>
            <a:pPr algn="ctr" indent="0" marL="0">
              <a:buNone/>
            </a:pPr>
            <a:r>
              <a:rPr lang="en-US" sz="1200" dirty="0">
                <a:solidFill>
                  <a:srgbClr val="7DA395"/>
                </a:solidFill>
                <a:latin typeface="Calibri" pitchFamily="34" charset="0"/>
                <a:ea typeface="Calibri" pitchFamily="34" charset="-122"/>
                <a:cs typeface="Calibri" pitchFamily="34" charset="-120"/>
              </a:rPr>
              <a:t>github.com/SewnRetirement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B09"/>
        </a:solidFill>
      </p:bgPr>
    </p:bg>
    <p:spTree>
      <p:nvGrpSpPr>
        <p:cNvPr id="1" name=""/>
        <p:cNvGrpSpPr/>
        <p:nvPr/>
      </p:nvGrpSpPr>
      <p:grpSpPr>
        <a:xfrm>
          <a:off x="0" y="0"/>
          <a:ext cx="0" cy="0"/>
          <a:chOff x="0" y="0"/>
          <a:chExt cx="0" cy="0"/>
        </a:xfrm>
      </p:grpSpPr>
      <p:sp>
        <p:nvSpPr>
          <p:cNvPr id="2" name="Text 0"/>
          <p:cNvSpPr/>
          <p:nvPr/>
        </p:nvSpPr>
        <p:spPr>
          <a:xfrm>
            <a:off x="457200" y="6446520"/>
            <a:ext cx="1828800" cy="274320"/>
          </a:xfrm>
          <a:prstGeom prst="rect">
            <a:avLst/>
          </a:prstGeom>
          <a:noFill/>
          <a:ln/>
        </p:spPr>
        <p:txBody>
          <a:bodyPr wrap="square" lIns="0" tIns="0" rIns="0" bIns="0" rtlCol="0" anchor="ctr"/>
          <a:lstStyle/>
          <a:p>
            <a:pPr indent="0" marL="0">
              <a:buNone/>
            </a:pPr>
            <a:r>
              <a:rPr lang="en-US" sz="1000" dirty="0">
                <a:solidFill>
                  <a:srgbClr val="7DA395"/>
                </a:solidFill>
                <a:latin typeface="Calibri" pitchFamily="34" charset="0"/>
                <a:ea typeface="Calibri" pitchFamily="34" charset="-122"/>
                <a:cs typeface="Calibri" pitchFamily="34" charset="-120"/>
              </a:rPr>
              <a:t>passage</a:t>
            </a:r>
            <a:pPr indent="0" marL="0">
              <a:buNone/>
            </a:pPr>
            <a:r>
              <a:rPr lang="en-US" sz="1000" dirty="0">
                <a:solidFill>
                  <a:srgbClr val="00FFA3"/>
                </a:solidFill>
                <a:latin typeface="Calibri" pitchFamily="34" charset="0"/>
                <a:ea typeface="Calibri" pitchFamily="34" charset="-122"/>
                <a:cs typeface="Calibri" pitchFamily="34" charset="-120"/>
              </a:rPr>
              <a:t>.</a:t>
            </a:r>
            <a:endParaRPr lang="en-US" sz="1000" dirty="0"/>
          </a:p>
        </p:txBody>
      </p:sp>
      <p:sp>
        <p:nvSpPr>
          <p:cNvPr id="3" name="Text 1"/>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1000" dirty="0">
                <a:solidFill>
                  <a:srgbClr val="7DA395"/>
                </a:solidFill>
                <a:latin typeface="Calibri" pitchFamily="34" charset="0"/>
                <a:ea typeface="Calibri" pitchFamily="34" charset="-122"/>
                <a:cs typeface="Calibri" pitchFamily="34" charset="-120"/>
              </a:rPr>
              <a:t>5</a:t>
            </a:r>
            <a:endParaRPr lang="en-US" sz="1000" dirty="0"/>
          </a:p>
        </p:txBody>
      </p:sp>
      <p:sp>
        <p:nvSpPr>
          <p:cNvPr id="4" name="Text 2"/>
          <p:cNvSpPr/>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AFFF6"/>
                </a:solidFill>
                <a:latin typeface="Calibri" pitchFamily="34" charset="0"/>
                <a:ea typeface="Calibri" pitchFamily="34" charset="-122"/>
                <a:cs typeface="Calibri" pitchFamily="34" charset="-120"/>
              </a:rPr>
              <a:t>Riding the strongest trend in crypto</a:t>
            </a:r>
            <a:endParaRPr lang="en-US" sz="3000" dirty="0"/>
          </a:p>
        </p:txBody>
      </p:sp>
      <p:sp>
        <p:nvSpPr>
          <p:cNvPr id="5" name="Text 3"/>
          <p:cNvSpPr/>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7DA395"/>
                </a:solidFill>
                <a:latin typeface="Calibri" pitchFamily="34" charset="0"/>
                <a:ea typeface="Calibri" pitchFamily="34" charset="-122"/>
                <a:cs typeface="Calibri" pitchFamily="34" charset="-120"/>
              </a:rPr>
              <a:t>Tokenized RWA market value on-chain</a:t>
            </a:r>
            <a:endParaRPr lang="en-US" sz="1400" dirty="0"/>
          </a:p>
        </p:txBody>
      </p:sp>
      <p:graphicFrame>
        <p:nvGraphicFramePr>
          <p:cNvPr id="6" name="Chart 0" descr=""/>
          <p:cNvGraphicFramePr/>
          <p:nvPr/>
        </p:nvGraphicFramePr>
        <p:xfrm>
          <a:off x="548640" y="146304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772400" y="1463040"/>
            <a:ext cx="3840480" cy="4480560"/>
          </a:xfrm>
          <a:prstGeom prst="roundRect">
            <a:avLst>
              <a:gd name="adj" fmla="val 2857"/>
            </a:avLst>
          </a:prstGeom>
          <a:solidFill>
            <a:srgbClr val="0C1410"/>
          </a:solidFill>
          <a:ln w="12700">
            <a:solidFill>
              <a:srgbClr val="1C3229"/>
            </a:solidFill>
            <a:prstDash val="solid"/>
          </a:ln>
        </p:spPr>
      </p:sp>
      <p:sp>
        <p:nvSpPr>
          <p:cNvPr id="8" name="Text 5"/>
          <p:cNvSpPr/>
          <p:nvPr/>
        </p:nvSpPr>
        <p:spPr>
          <a:xfrm>
            <a:off x="8046720" y="1691640"/>
            <a:ext cx="3291840" cy="365760"/>
          </a:xfrm>
          <a:prstGeom prst="rect">
            <a:avLst/>
          </a:prstGeom>
          <a:noFill/>
          <a:ln/>
        </p:spPr>
        <p:txBody>
          <a:bodyPr wrap="square" lIns="0" tIns="0" rIns="0" bIns="0" rtlCol="0" anchor="ctr"/>
          <a:lstStyle/>
          <a:p>
            <a:pPr indent="0" marL="0">
              <a:buNone/>
            </a:pPr>
            <a:r>
              <a:rPr lang="en-US" sz="1600" b="1" dirty="0">
                <a:solidFill>
                  <a:srgbClr val="00FFA3"/>
                </a:solidFill>
                <a:latin typeface="Calibri" pitchFamily="34" charset="0"/>
                <a:ea typeface="Calibri" pitchFamily="34" charset="-122"/>
                <a:cs typeface="Calibri" pitchFamily="34" charset="-120"/>
              </a:rPr>
              <a:t>Why now</a:t>
            </a:r>
            <a:endParaRPr lang="en-US" sz="1600" dirty="0"/>
          </a:p>
        </p:txBody>
      </p:sp>
      <p:sp>
        <p:nvSpPr>
          <p:cNvPr id="9" name="Text 6"/>
          <p:cNvSpPr/>
          <p:nvPr/>
        </p:nvSpPr>
        <p:spPr>
          <a:xfrm>
            <a:off x="8046720" y="2148840"/>
            <a:ext cx="3383280" cy="35661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7DA395"/>
                </a:solidFill>
                <a:latin typeface="Calibri" pitchFamily="34" charset="0"/>
                <a:ea typeface="Calibri" pitchFamily="34" charset="-122"/>
                <a:cs typeface="Calibri" pitchFamily="34" charset="-120"/>
              </a:rPr>
              <a:t>BlackRock, Franklin Templeton and Ondo are live on-chain — BUIDL alone passed $2.5B</a:t>
            </a:r>
            <a:endParaRPr lang="en-US" sz="1300" dirty="0"/>
          </a:p>
          <a:p>
            <a:pPr marL="342900" indent="-342900">
              <a:spcAft>
                <a:spcPts val="1000"/>
              </a:spcAft>
              <a:buSzPct val="100000"/>
              <a:buChar char="•"/>
            </a:pPr>
            <a:r>
              <a:rPr lang="en-US" sz="1300" dirty="0">
                <a:solidFill>
                  <a:srgbClr val="7DA395"/>
                </a:solidFill>
                <a:latin typeface="Calibri" pitchFamily="34" charset="0"/>
                <a:ea typeface="Calibri" pitchFamily="34" charset="-122"/>
                <a:cs typeface="Calibri" pitchFamily="34" charset="-120"/>
              </a:rPr>
              <a:t>Solana RWA value is accelerating, with no compliance layer on the chain yet</a:t>
            </a:r>
            <a:endParaRPr lang="en-US" sz="1300" dirty="0"/>
          </a:p>
          <a:p>
            <a:pPr marL="342900" indent="-342900">
              <a:spcAft>
                <a:spcPts val="1000"/>
              </a:spcAft>
              <a:buSzPct val="100000"/>
              <a:buChar char="•"/>
            </a:pPr>
            <a:r>
              <a:rPr lang="en-US" sz="1300" dirty="0">
                <a:solidFill>
                  <a:srgbClr val="7DA395"/>
                </a:solidFill>
                <a:latin typeface="Calibri" pitchFamily="34" charset="0"/>
                <a:ea typeface="Calibri" pitchFamily="34" charset="-122"/>
                <a:cs typeface="Calibri" pitchFamily="34" charset="-120"/>
              </a:rPr>
              <a:t>MiCA (EU) and maturing US rules make compliant rails a requirement, not a feature</a:t>
            </a:r>
            <a:endParaRPr lang="en-US" sz="1300" dirty="0"/>
          </a:p>
          <a:p>
            <a:pPr marL="342900" indent="-342900">
              <a:spcAft>
                <a:spcPts val="1000"/>
              </a:spcAft>
              <a:buSzPct val="100000"/>
              <a:buChar char="•"/>
            </a:pPr>
            <a:r>
              <a:rPr lang="en-US" sz="1300" dirty="0">
                <a:solidFill>
                  <a:srgbClr val="7DA395"/>
                </a:solidFill>
                <a:latin typeface="Calibri" pitchFamily="34" charset="0"/>
                <a:ea typeface="Calibri" pitchFamily="34" charset="-122"/>
                <a:cs typeface="Calibri" pitchFamily="34" charset="-120"/>
              </a:rPr>
              <a:t>Institutions want DeFi yield on their RWA holdings — someone must bridge it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B09"/>
        </a:solidFill>
      </p:bgPr>
    </p:bg>
    <p:spTree>
      <p:nvGrpSpPr>
        <p:cNvPr id="1" name=""/>
        <p:cNvGrpSpPr/>
        <p:nvPr/>
      </p:nvGrpSpPr>
      <p:grpSpPr>
        <a:xfrm>
          <a:off x="0" y="0"/>
          <a:ext cx="0" cy="0"/>
          <a:chOff x="0" y="0"/>
          <a:chExt cx="0" cy="0"/>
        </a:xfrm>
      </p:grpSpPr>
      <p:sp>
        <p:nvSpPr>
          <p:cNvPr id="2" name="Text 0"/>
          <p:cNvSpPr/>
          <p:nvPr/>
        </p:nvSpPr>
        <p:spPr>
          <a:xfrm>
            <a:off x="457200" y="6446520"/>
            <a:ext cx="1828800" cy="274320"/>
          </a:xfrm>
          <a:prstGeom prst="rect">
            <a:avLst/>
          </a:prstGeom>
          <a:noFill/>
          <a:ln/>
        </p:spPr>
        <p:txBody>
          <a:bodyPr wrap="square" lIns="0" tIns="0" rIns="0" bIns="0" rtlCol="0" anchor="ctr"/>
          <a:lstStyle/>
          <a:p>
            <a:pPr indent="0" marL="0">
              <a:buNone/>
            </a:pPr>
            <a:r>
              <a:rPr lang="en-US" sz="1000" dirty="0">
                <a:solidFill>
                  <a:srgbClr val="7DA395"/>
                </a:solidFill>
                <a:latin typeface="Calibri" pitchFamily="34" charset="0"/>
                <a:ea typeface="Calibri" pitchFamily="34" charset="-122"/>
                <a:cs typeface="Calibri" pitchFamily="34" charset="-120"/>
              </a:rPr>
              <a:t>passage</a:t>
            </a:r>
            <a:pPr indent="0" marL="0">
              <a:buNone/>
            </a:pPr>
            <a:r>
              <a:rPr lang="en-US" sz="1000" dirty="0">
                <a:solidFill>
                  <a:srgbClr val="00FFA3"/>
                </a:solidFill>
                <a:latin typeface="Calibri" pitchFamily="34" charset="0"/>
                <a:ea typeface="Calibri" pitchFamily="34" charset="-122"/>
                <a:cs typeface="Calibri" pitchFamily="34" charset="-120"/>
              </a:rPr>
              <a:t>.</a:t>
            </a:r>
            <a:endParaRPr lang="en-US" sz="1000" dirty="0"/>
          </a:p>
        </p:txBody>
      </p:sp>
      <p:sp>
        <p:nvSpPr>
          <p:cNvPr id="3" name="Text 1"/>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1000" dirty="0">
                <a:solidFill>
                  <a:srgbClr val="7DA395"/>
                </a:solidFill>
                <a:latin typeface="Calibri" pitchFamily="34" charset="0"/>
                <a:ea typeface="Calibri" pitchFamily="34" charset="-122"/>
                <a:cs typeface="Calibri" pitchFamily="34" charset="-120"/>
              </a:rPr>
              <a:t>6</a:t>
            </a:r>
            <a:endParaRPr lang="en-US" sz="1000" dirty="0"/>
          </a:p>
        </p:txBody>
      </p:sp>
      <p:sp>
        <p:nvSpPr>
          <p:cNvPr id="4" name="Text 2"/>
          <p:cNvSpPr/>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AFFF6"/>
                </a:solidFill>
                <a:latin typeface="Calibri" pitchFamily="34" charset="0"/>
                <a:ea typeface="Calibri" pitchFamily="34" charset="-122"/>
                <a:cs typeface="Calibri" pitchFamily="34" charset="-120"/>
              </a:rPr>
              <a:t>Real fees, from day one</a:t>
            </a:r>
            <a:endParaRPr lang="en-US" sz="3000" dirty="0"/>
          </a:p>
        </p:txBody>
      </p:sp>
      <p:sp>
        <p:nvSpPr>
          <p:cNvPr id="5" name="Text 3"/>
          <p:cNvSpPr/>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7DA395"/>
                </a:solidFill>
                <a:latin typeface="Calibri" pitchFamily="34" charset="0"/>
                <a:ea typeface="Calibri" pitchFamily="34" charset="-122"/>
                <a:cs typeface="Calibri" pitchFamily="34" charset="-120"/>
              </a:rPr>
              <a:t>Every dollar of volume pays the protocol</a:t>
            </a:r>
            <a:endParaRPr lang="en-US" sz="1400" dirty="0"/>
          </a:p>
        </p:txBody>
      </p:sp>
      <p:sp>
        <p:nvSpPr>
          <p:cNvPr id="6" name="Shape 4"/>
          <p:cNvSpPr/>
          <p:nvPr/>
        </p:nvSpPr>
        <p:spPr>
          <a:xfrm>
            <a:off x="548640" y="1554480"/>
            <a:ext cx="3566160" cy="2194560"/>
          </a:xfrm>
          <a:prstGeom prst="roundRect">
            <a:avLst>
              <a:gd name="adj" fmla="val 5000"/>
            </a:avLst>
          </a:prstGeom>
          <a:solidFill>
            <a:srgbClr val="0C1410"/>
          </a:solidFill>
          <a:ln w="12700">
            <a:solidFill>
              <a:srgbClr val="1C3229"/>
            </a:solidFill>
            <a:prstDash val="solid"/>
          </a:ln>
        </p:spPr>
      </p:sp>
      <p:sp>
        <p:nvSpPr>
          <p:cNvPr id="7" name="Text 5"/>
          <p:cNvSpPr/>
          <p:nvPr/>
        </p:nvSpPr>
        <p:spPr>
          <a:xfrm>
            <a:off x="548640" y="1828800"/>
            <a:ext cx="3566160" cy="822960"/>
          </a:xfrm>
          <a:prstGeom prst="rect">
            <a:avLst/>
          </a:prstGeom>
          <a:noFill/>
          <a:ln/>
        </p:spPr>
        <p:txBody>
          <a:bodyPr wrap="square" lIns="0" tIns="0" rIns="0" bIns="0" rtlCol="0" anchor="ctr"/>
          <a:lstStyle/>
          <a:p>
            <a:pPr algn="ctr" indent="0" marL="0">
              <a:buNone/>
            </a:pPr>
            <a:r>
              <a:rPr lang="en-US" sz="4000" b="1" dirty="0">
                <a:solidFill>
                  <a:srgbClr val="00FFA3"/>
                </a:solidFill>
                <a:latin typeface="Calibri" pitchFamily="34" charset="0"/>
                <a:ea typeface="Calibri" pitchFamily="34" charset="-122"/>
                <a:cs typeface="Calibri" pitchFamily="34" charset="-120"/>
              </a:rPr>
              <a:t>0.10%</a:t>
            </a:r>
            <a:endParaRPr lang="en-US" sz="4000" dirty="0"/>
          </a:p>
        </p:txBody>
      </p:sp>
      <p:sp>
        <p:nvSpPr>
          <p:cNvPr id="8" name="Text 6"/>
          <p:cNvSpPr/>
          <p:nvPr/>
        </p:nvSpPr>
        <p:spPr>
          <a:xfrm>
            <a:off x="777240" y="2697480"/>
            <a:ext cx="3108960" cy="365760"/>
          </a:xfrm>
          <a:prstGeom prst="rect">
            <a:avLst/>
          </a:prstGeom>
          <a:noFill/>
          <a:ln/>
        </p:spPr>
        <p:txBody>
          <a:bodyPr wrap="square" lIns="0" tIns="0" rIns="0" bIns="0" rtlCol="0" anchor="ctr"/>
          <a:lstStyle/>
          <a:p>
            <a:pPr algn="ctr" indent="0" marL="0">
              <a:buNone/>
            </a:pPr>
            <a:r>
              <a:rPr lang="en-US" sz="1400" b="1" dirty="0">
                <a:solidFill>
                  <a:srgbClr val="EAFFF6"/>
                </a:solidFill>
                <a:latin typeface="Calibri" pitchFamily="34" charset="0"/>
                <a:ea typeface="Calibri" pitchFamily="34" charset="-122"/>
                <a:cs typeface="Calibri" pitchFamily="34" charset="-120"/>
              </a:rPr>
              <a:t>Wrap / unwrap fee</a:t>
            </a:r>
            <a:endParaRPr lang="en-US" sz="1400" dirty="0"/>
          </a:p>
        </p:txBody>
      </p:sp>
      <p:sp>
        <p:nvSpPr>
          <p:cNvPr id="9" name="Text 7"/>
          <p:cNvSpPr/>
          <p:nvPr/>
        </p:nvSpPr>
        <p:spPr>
          <a:xfrm>
            <a:off x="777240" y="3108960"/>
            <a:ext cx="3108960" cy="548640"/>
          </a:xfrm>
          <a:prstGeom prst="rect">
            <a:avLst/>
          </a:prstGeom>
          <a:noFill/>
          <a:ln/>
        </p:spPr>
        <p:txBody>
          <a:bodyPr wrap="square" lIns="0" tIns="0" rIns="0" bIns="0" rtlCol="0" anchor="ctr"/>
          <a:lstStyle/>
          <a:p>
            <a:pPr algn="ctr" indent="0" marL="0">
              <a:buNone/>
            </a:pPr>
            <a:r>
              <a:rPr lang="en-US" sz="1100" dirty="0">
                <a:solidFill>
                  <a:srgbClr val="7DA395"/>
                </a:solidFill>
                <a:latin typeface="Calibri" pitchFamily="34" charset="0"/>
                <a:ea typeface="Calibri" pitchFamily="34" charset="-122"/>
                <a:cs typeface="Calibri" pitchFamily="34" charset="-120"/>
              </a:rPr>
              <a:t>on every asset entering or leaving the vault</a:t>
            </a:r>
            <a:endParaRPr lang="en-US" sz="1100" dirty="0"/>
          </a:p>
        </p:txBody>
      </p:sp>
      <p:sp>
        <p:nvSpPr>
          <p:cNvPr id="10" name="Shape 8"/>
          <p:cNvSpPr/>
          <p:nvPr/>
        </p:nvSpPr>
        <p:spPr>
          <a:xfrm>
            <a:off x="4315968" y="1554480"/>
            <a:ext cx="3566160" cy="2194560"/>
          </a:xfrm>
          <a:prstGeom prst="roundRect">
            <a:avLst>
              <a:gd name="adj" fmla="val 5000"/>
            </a:avLst>
          </a:prstGeom>
          <a:solidFill>
            <a:srgbClr val="0C1410"/>
          </a:solidFill>
          <a:ln w="12700">
            <a:solidFill>
              <a:srgbClr val="1C3229"/>
            </a:solidFill>
            <a:prstDash val="solid"/>
          </a:ln>
        </p:spPr>
      </p:sp>
      <p:sp>
        <p:nvSpPr>
          <p:cNvPr id="11" name="Text 9"/>
          <p:cNvSpPr/>
          <p:nvPr/>
        </p:nvSpPr>
        <p:spPr>
          <a:xfrm>
            <a:off x="4315968" y="1828800"/>
            <a:ext cx="3566160" cy="822960"/>
          </a:xfrm>
          <a:prstGeom prst="rect">
            <a:avLst/>
          </a:prstGeom>
          <a:noFill/>
          <a:ln/>
        </p:spPr>
        <p:txBody>
          <a:bodyPr wrap="square" lIns="0" tIns="0" rIns="0" bIns="0" rtlCol="0" anchor="ctr"/>
          <a:lstStyle/>
          <a:p>
            <a:pPr algn="ctr" indent="0" marL="0">
              <a:buNone/>
            </a:pPr>
            <a:r>
              <a:rPr lang="en-US" sz="4000" b="1" dirty="0">
                <a:solidFill>
                  <a:srgbClr val="00FFA3"/>
                </a:solidFill>
                <a:latin typeface="Calibri" pitchFamily="34" charset="0"/>
                <a:ea typeface="Calibri" pitchFamily="34" charset="-122"/>
                <a:cs typeface="Calibri" pitchFamily="34" charset="-120"/>
              </a:rPr>
              <a:t>0.25%</a:t>
            </a:r>
            <a:endParaRPr lang="en-US" sz="4000" dirty="0"/>
          </a:p>
        </p:txBody>
      </p:sp>
      <p:sp>
        <p:nvSpPr>
          <p:cNvPr id="12" name="Text 10"/>
          <p:cNvSpPr/>
          <p:nvPr/>
        </p:nvSpPr>
        <p:spPr>
          <a:xfrm>
            <a:off x="4544568" y="2697480"/>
            <a:ext cx="3108960" cy="365760"/>
          </a:xfrm>
          <a:prstGeom prst="rect">
            <a:avLst/>
          </a:prstGeom>
          <a:noFill/>
          <a:ln/>
        </p:spPr>
        <p:txBody>
          <a:bodyPr wrap="square" lIns="0" tIns="0" rIns="0" bIns="0" rtlCol="0" anchor="ctr"/>
          <a:lstStyle/>
          <a:p>
            <a:pPr algn="ctr" indent="0" marL="0">
              <a:buNone/>
            </a:pPr>
            <a:r>
              <a:rPr lang="en-US" sz="1400" b="1" dirty="0">
                <a:solidFill>
                  <a:srgbClr val="EAFFF6"/>
                </a:solidFill>
                <a:latin typeface="Calibri" pitchFamily="34" charset="0"/>
                <a:ea typeface="Calibri" pitchFamily="34" charset="-122"/>
                <a:cs typeface="Calibri" pitchFamily="34" charset="-120"/>
              </a:rPr>
              <a:t>Swap fee</a:t>
            </a:r>
            <a:endParaRPr lang="en-US" sz="1400" dirty="0"/>
          </a:p>
        </p:txBody>
      </p:sp>
      <p:sp>
        <p:nvSpPr>
          <p:cNvPr id="13" name="Text 11"/>
          <p:cNvSpPr/>
          <p:nvPr/>
        </p:nvSpPr>
        <p:spPr>
          <a:xfrm>
            <a:off x="4544568" y="3108960"/>
            <a:ext cx="3108960" cy="548640"/>
          </a:xfrm>
          <a:prstGeom prst="rect">
            <a:avLst/>
          </a:prstGeom>
          <a:noFill/>
          <a:ln/>
        </p:spPr>
        <p:txBody>
          <a:bodyPr wrap="square" lIns="0" tIns="0" rIns="0" bIns="0" rtlCol="0" anchor="ctr"/>
          <a:lstStyle/>
          <a:p>
            <a:pPr algn="ctr" indent="0" marL="0">
              <a:buNone/>
            </a:pPr>
            <a:r>
              <a:rPr lang="en-US" sz="1100" dirty="0">
                <a:solidFill>
                  <a:srgbClr val="7DA395"/>
                </a:solidFill>
                <a:latin typeface="Calibri" pitchFamily="34" charset="0"/>
                <a:ea typeface="Calibri" pitchFamily="34" charset="-122"/>
                <a:cs typeface="Calibri" pitchFamily="34" charset="-120"/>
              </a:rPr>
              <a:t>on every pool trade (LP share; protocol cut via governance)</a:t>
            </a:r>
            <a:endParaRPr lang="en-US" sz="1100" dirty="0"/>
          </a:p>
        </p:txBody>
      </p:sp>
      <p:sp>
        <p:nvSpPr>
          <p:cNvPr id="14" name="Shape 12"/>
          <p:cNvSpPr/>
          <p:nvPr/>
        </p:nvSpPr>
        <p:spPr>
          <a:xfrm>
            <a:off x="8083296" y="1554480"/>
            <a:ext cx="3566160" cy="2194560"/>
          </a:xfrm>
          <a:prstGeom prst="roundRect">
            <a:avLst>
              <a:gd name="adj" fmla="val 5000"/>
            </a:avLst>
          </a:prstGeom>
          <a:solidFill>
            <a:srgbClr val="0C1410"/>
          </a:solidFill>
          <a:ln w="12700">
            <a:solidFill>
              <a:srgbClr val="1C3229"/>
            </a:solidFill>
            <a:prstDash val="solid"/>
          </a:ln>
        </p:spPr>
      </p:sp>
      <p:sp>
        <p:nvSpPr>
          <p:cNvPr id="15" name="Text 13"/>
          <p:cNvSpPr/>
          <p:nvPr/>
        </p:nvSpPr>
        <p:spPr>
          <a:xfrm>
            <a:off x="8083296" y="1828800"/>
            <a:ext cx="3566160" cy="822960"/>
          </a:xfrm>
          <a:prstGeom prst="rect">
            <a:avLst/>
          </a:prstGeom>
          <a:noFill/>
          <a:ln/>
        </p:spPr>
        <p:txBody>
          <a:bodyPr wrap="square" lIns="0" tIns="0" rIns="0" bIns="0" rtlCol="0" anchor="ctr"/>
          <a:lstStyle/>
          <a:p>
            <a:pPr algn="ctr" indent="0" marL="0">
              <a:buNone/>
            </a:pPr>
            <a:r>
              <a:rPr lang="en-US" sz="4000" b="1" dirty="0">
                <a:solidFill>
                  <a:srgbClr val="00FFA3"/>
                </a:solidFill>
                <a:latin typeface="Calibri" pitchFamily="34" charset="0"/>
                <a:ea typeface="Calibri" pitchFamily="34" charset="-122"/>
                <a:cs typeface="Calibri" pitchFamily="34" charset="-120"/>
              </a:rPr>
              <a:t>100%</a:t>
            </a:r>
            <a:endParaRPr lang="en-US" sz="4000" dirty="0"/>
          </a:p>
        </p:txBody>
      </p:sp>
      <p:sp>
        <p:nvSpPr>
          <p:cNvPr id="16" name="Text 14"/>
          <p:cNvSpPr/>
          <p:nvPr/>
        </p:nvSpPr>
        <p:spPr>
          <a:xfrm>
            <a:off x="8311896" y="2697480"/>
            <a:ext cx="3108960" cy="365760"/>
          </a:xfrm>
          <a:prstGeom prst="rect">
            <a:avLst/>
          </a:prstGeom>
          <a:noFill/>
          <a:ln/>
        </p:spPr>
        <p:txBody>
          <a:bodyPr wrap="square" lIns="0" tIns="0" rIns="0" bIns="0" rtlCol="0" anchor="ctr"/>
          <a:lstStyle/>
          <a:p>
            <a:pPr algn="ctr" indent="0" marL="0">
              <a:buNone/>
            </a:pPr>
            <a:r>
              <a:rPr lang="en-US" sz="1400" b="1" dirty="0">
                <a:solidFill>
                  <a:srgbClr val="EAFFF6"/>
                </a:solidFill>
                <a:latin typeface="Calibri" pitchFamily="34" charset="0"/>
                <a:ea typeface="Calibri" pitchFamily="34" charset="-122"/>
                <a:cs typeface="Calibri" pitchFamily="34" charset="-120"/>
              </a:rPr>
              <a:t>To the treasury</a:t>
            </a:r>
            <a:endParaRPr lang="en-US" sz="1400" dirty="0"/>
          </a:p>
        </p:txBody>
      </p:sp>
      <p:sp>
        <p:nvSpPr>
          <p:cNvPr id="17" name="Text 15"/>
          <p:cNvSpPr/>
          <p:nvPr/>
        </p:nvSpPr>
        <p:spPr>
          <a:xfrm>
            <a:off x="8311896" y="3108960"/>
            <a:ext cx="3108960" cy="548640"/>
          </a:xfrm>
          <a:prstGeom prst="rect">
            <a:avLst/>
          </a:prstGeom>
          <a:noFill/>
          <a:ln/>
        </p:spPr>
        <p:txBody>
          <a:bodyPr wrap="square" lIns="0" tIns="0" rIns="0" bIns="0" rtlCol="0" anchor="ctr"/>
          <a:lstStyle/>
          <a:p>
            <a:pPr algn="ctr" indent="0" marL="0">
              <a:buNone/>
            </a:pPr>
            <a:r>
              <a:rPr lang="en-US" sz="1100" dirty="0">
                <a:solidFill>
                  <a:srgbClr val="7DA395"/>
                </a:solidFill>
                <a:latin typeface="Calibri" pitchFamily="34" charset="0"/>
                <a:ea typeface="Calibri" pitchFamily="34" charset="-122"/>
                <a:cs typeface="Calibri" pitchFamily="34" charset="-120"/>
              </a:rPr>
              <a:t>all protocol revenue flows to token-holder governed treasury</a:t>
            </a:r>
            <a:endParaRPr lang="en-US" sz="1100" dirty="0"/>
          </a:p>
        </p:txBody>
      </p:sp>
      <p:sp>
        <p:nvSpPr>
          <p:cNvPr id="18" name="Text 16"/>
          <p:cNvSpPr/>
          <p:nvPr/>
        </p:nvSpPr>
        <p:spPr>
          <a:xfrm>
            <a:off x="548640" y="4114800"/>
            <a:ext cx="10972800" cy="365760"/>
          </a:xfrm>
          <a:prstGeom prst="rect">
            <a:avLst/>
          </a:prstGeom>
          <a:noFill/>
          <a:ln/>
        </p:spPr>
        <p:txBody>
          <a:bodyPr wrap="square" lIns="0" tIns="0" rIns="0" bIns="0" rtlCol="0" anchor="ctr"/>
          <a:lstStyle/>
          <a:p>
            <a:pPr indent="0" marL="0">
              <a:buNone/>
            </a:pPr>
            <a:r>
              <a:rPr lang="en-US" sz="1400" b="1" dirty="0">
                <a:solidFill>
                  <a:srgbClr val="EAFFF6"/>
                </a:solidFill>
                <a:latin typeface="Calibri" pitchFamily="34" charset="0"/>
                <a:ea typeface="Calibri" pitchFamily="34" charset="-122"/>
                <a:cs typeface="Calibri" pitchFamily="34" charset="-120"/>
              </a:rPr>
              <a:t>Illustrative annual revenue at scale</a:t>
            </a:r>
            <a:endParaRPr lang="en-US" sz="1400" dirty="0"/>
          </a:p>
        </p:txBody>
      </p:sp>
      <p:graphicFrame>
        <p:nvGraphicFramePr>
          <p:cNvPr id="19" name="Chart 0" descr=""/>
          <p:cNvGraphicFramePr/>
          <p:nvPr/>
        </p:nvGraphicFramePr>
        <p:xfrm>
          <a:off x="548640" y="4526280"/>
          <a:ext cx="11064240" cy="173736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p:nvPr/>
        </p:nvSpPr>
        <p:spPr>
          <a:xfrm>
            <a:off x="548640" y="6263640"/>
            <a:ext cx="11064240" cy="274320"/>
          </a:xfrm>
          <a:prstGeom prst="rect">
            <a:avLst/>
          </a:prstGeom>
          <a:noFill/>
          <a:ln/>
        </p:spPr>
        <p:txBody>
          <a:bodyPr wrap="square" lIns="0" tIns="0" rIns="0" bIns="0" rtlCol="0" anchor="ctr"/>
          <a:lstStyle/>
          <a:p>
            <a:pPr indent="0" marL="0">
              <a:buNone/>
            </a:pPr>
            <a:r>
              <a:rPr lang="en-US" sz="900" i="1" dirty="0">
                <a:solidFill>
                  <a:srgbClr val="7DA395"/>
                </a:solidFill>
                <a:latin typeface="Calibri" pitchFamily="34" charset="0"/>
                <a:ea typeface="Calibri" pitchFamily="34" charset="-122"/>
                <a:cs typeface="Calibri" pitchFamily="34" charset="-120"/>
              </a:rPr>
              <a:t>Assumes 3x annual turnover (wrap+unwrap) plus modest swap volume. TVW = Total Value Wrapped.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B09"/>
        </a:solidFill>
      </p:bgPr>
    </p:bg>
    <p:spTree>
      <p:nvGrpSpPr>
        <p:cNvPr id="1" name=""/>
        <p:cNvGrpSpPr/>
        <p:nvPr/>
      </p:nvGrpSpPr>
      <p:grpSpPr>
        <a:xfrm>
          <a:off x="0" y="0"/>
          <a:ext cx="0" cy="0"/>
          <a:chOff x="0" y="0"/>
          <a:chExt cx="0" cy="0"/>
        </a:xfrm>
      </p:grpSpPr>
      <p:sp>
        <p:nvSpPr>
          <p:cNvPr id="2" name="Text 0"/>
          <p:cNvSpPr/>
          <p:nvPr/>
        </p:nvSpPr>
        <p:spPr>
          <a:xfrm>
            <a:off x="457200" y="6446520"/>
            <a:ext cx="1828800" cy="274320"/>
          </a:xfrm>
          <a:prstGeom prst="rect">
            <a:avLst/>
          </a:prstGeom>
          <a:noFill/>
          <a:ln/>
        </p:spPr>
        <p:txBody>
          <a:bodyPr wrap="square" lIns="0" tIns="0" rIns="0" bIns="0" rtlCol="0" anchor="ctr"/>
          <a:lstStyle/>
          <a:p>
            <a:pPr indent="0" marL="0">
              <a:buNone/>
            </a:pPr>
            <a:r>
              <a:rPr lang="en-US" sz="1000" dirty="0">
                <a:solidFill>
                  <a:srgbClr val="7DA395"/>
                </a:solidFill>
                <a:latin typeface="Calibri" pitchFamily="34" charset="0"/>
                <a:ea typeface="Calibri" pitchFamily="34" charset="-122"/>
                <a:cs typeface="Calibri" pitchFamily="34" charset="-120"/>
              </a:rPr>
              <a:t>passage</a:t>
            </a:r>
            <a:pPr indent="0" marL="0">
              <a:buNone/>
            </a:pPr>
            <a:r>
              <a:rPr lang="en-US" sz="1000" dirty="0">
                <a:solidFill>
                  <a:srgbClr val="00FFA3"/>
                </a:solidFill>
                <a:latin typeface="Calibri" pitchFamily="34" charset="0"/>
                <a:ea typeface="Calibri" pitchFamily="34" charset="-122"/>
                <a:cs typeface="Calibri" pitchFamily="34" charset="-120"/>
              </a:rPr>
              <a:t>.</a:t>
            </a:r>
            <a:endParaRPr lang="en-US" sz="1000" dirty="0"/>
          </a:p>
        </p:txBody>
      </p:sp>
      <p:sp>
        <p:nvSpPr>
          <p:cNvPr id="3" name="Text 1"/>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1000" dirty="0">
                <a:solidFill>
                  <a:srgbClr val="7DA395"/>
                </a:solidFill>
                <a:latin typeface="Calibri" pitchFamily="34" charset="0"/>
                <a:ea typeface="Calibri" pitchFamily="34" charset="-122"/>
                <a:cs typeface="Calibri" pitchFamily="34" charset="-120"/>
              </a:rPr>
              <a:t>7</a:t>
            </a:r>
            <a:endParaRPr lang="en-US" sz="1000" dirty="0"/>
          </a:p>
        </p:txBody>
      </p:sp>
      <p:sp>
        <p:nvSpPr>
          <p:cNvPr id="4" name="Text 2"/>
          <p:cNvSpPr/>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AFFF6"/>
                </a:solidFill>
                <a:latin typeface="Calibri" pitchFamily="34" charset="0"/>
                <a:ea typeface="Calibri" pitchFamily="34" charset="-122"/>
                <a:cs typeface="Calibri" pitchFamily="34" charset="-120"/>
              </a:rPr>
              <a:t>$PASS — launched the credible way</a:t>
            </a:r>
            <a:endParaRPr lang="en-US" sz="3000" dirty="0"/>
          </a:p>
        </p:txBody>
      </p:sp>
      <p:sp>
        <p:nvSpPr>
          <p:cNvPr id="5" name="Text 3"/>
          <p:cNvSpPr/>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7DA395"/>
                </a:solidFill>
                <a:latin typeface="Calibri" pitchFamily="34" charset="0"/>
                <a:ea typeface="Calibri" pitchFamily="34" charset="-122"/>
                <a:cs typeface="Calibri" pitchFamily="34" charset="-120"/>
              </a:rPr>
              <a:t>Futarchy launch on MetaDAO</a:t>
            </a:r>
            <a:endParaRPr lang="en-US" sz="1400" dirty="0"/>
          </a:p>
        </p:txBody>
      </p:sp>
      <p:sp>
        <p:nvSpPr>
          <p:cNvPr id="6" name="Shape 4"/>
          <p:cNvSpPr/>
          <p:nvPr/>
        </p:nvSpPr>
        <p:spPr>
          <a:xfrm>
            <a:off x="548640" y="1508760"/>
            <a:ext cx="5394960" cy="2377440"/>
          </a:xfrm>
          <a:prstGeom prst="roundRect">
            <a:avLst>
              <a:gd name="adj" fmla="val 4615"/>
            </a:avLst>
          </a:prstGeom>
          <a:solidFill>
            <a:srgbClr val="0C1410"/>
          </a:solidFill>
          <a:ln w="12700">
            <a:solidFill>
              <a:srgbClr val="1C3229"/>
            </a:solidFill>
            <a:prstDash val="solid"/>
          </a:ln>
        </p:spPr>
      </p:sp>
      <p:sp>
        <p:nvSpPr>
          <p:cNvPr id="7" name="Text 5"/>
          <p:cNvSpPr/>
          <p:nvPr/>
        </p:nvSpPr>
        <p:spPr>
          <a:xfrm>
            <a:off x="822960" y="1691640"/>
            <a:ext cx="4846320" cy="365760"/>
          </a:xfrm>
          <a:prstGeom prst="rect">
            <a:avLst/>
          </a:prstGeom>
          <a:noFill/>
          <a:ln/>
        </p:spPr>
        <p:txBody>
          <a:bodyPr wrap="square" lIns="0" tIns="0" rIns="0" bIns="0" rtlCol="0" anchor="ctr"/>
          <a:lstStyle/>
          <a:p>
            <a:pPr indent="0" marL="0">
              <a:buNone/>
            </a:pPr>
            <a:r>
              <a:rPr lang="en-US" sz="1500" b="1" dirty="0">
                <a:solidFill>
                  <a:srgbClr val="00FFA3"/>
                </a:solidFill>
                <a:latin typeface="Calibri" pitchFamily="34" charset="0"/>
                <a:ea typeface="Calibri" pitchFamily="34" charset="-122"/>
                <a:cs typeface="Calibri" pitchFamily="34" charset="-120"/>
              </a:rPr>
              <a:t>Fair, high-float launch</a:t>
            </a:r>
            <a:endParaRPr lang="en-US" sz="1500" dirty="0"/>
          </a:p>
        </p:txBody>
      </p:sp>
      <p:sp>
        <p:nvSpPr>
          <p:cNvPr id="8" name="Text 6"/>
          <p:cNvSpPr/>
          <p:nvPr/>
        </p:nvSpPr>
        <p:spPr>
          <a:xfrm>
            <a:off x="822960" y="2103120"/>
            <a:ext cx="4846320" cy="16002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7DA395"/>
                </a:solidFill>
                <a:latin typeface="Calibri" pitchFamily="34" charset="0"/>
                <a:ea typeface="Calibri" pitchFamily="34" charset="-122"/>
                <a:cs typeface="Calibri" pitchFamily="34" charset="-120"/>
              </a:rPr>
              <a:t>10M $PASS distributed via MetaDAO ICO — no hidden allocations, no VC discounts</a:t>
            </a:r>
            <a:endParaRPr lang="en-US" sz="1250" dirty="0"/>
          </a:p>
          <a:p>
            <a:pPr marL="342900" indent="-342900">
              <a:spcAft>
                <a:spcPts val="800"/>
              </a:spcAft>
              <a:buSzPct val="100000"/>
              <a:buChar char="•"/>
            </a:pPr>
            <a:r>
              <a:rPr lang="en-US" sz="1250" dirty="0">
                <a:solidFill>
                  <a:srgbClr val="7DA395"/>
                </a:solidFill>
                <a:latin typeface="Calibri" pitchFamily="34" charset="0"/>
                <a:ea typeface="Calibri" pitchFamily="34" charset="-122"/>
                <a:cs typeface="Calibri" pitchFamily="34" charset="-120"/>
              </a:rPr>
              <a:t>Min $1.8M, capped at $4M — oversubscription refunded pro-rata; treasury governed by futarchy markets, not the team</a:t>
            </a:r>
            <a:endParaRPr lang="en-US" sz="1250" dirty="0"/>
          </a:p>
          <a:p>
            <a:pPr marL="342900" indent="-342900">
              <a:spcAft>
                <a:spcPts val="800"/>
              </a:spcAft>
              <a:buSzPct val="100000"/>
              <a:buChar char="•"/>
            </a:pPr>
            <a:r>
              <a:rPr lang="en-US" sz="1250" dirty="0">
                <a:solidFill>
                  <a:srgbClr val="7DA395"/>
                </a:solidFill>
                <a:latin typeface="Calibri" pitchFamily="34" charset="0"/>
                <a:ea typeface="Calibri" pitchFamily="34" charset="-122"/>
                <a:cs typeface="Calibri" pitchFamily="34" charset="-120"/>
              </a:rPr>
              <a:t>20% of raise + 2.9M tokens seed protocol-owned liquidity</a:t>
            </a:r>
            <a:endParaRPr lang="en-US" sz="1250" dirty="0"/>
          </a:p>
        </p:txBody>
      </p:sp>
      <p:sp>
        <p:nvSpPr>
          <p:cNvPr id="9" name="Shape 7"/>
          <p:cNvSpPr/>
          <p:nvPr/>
        </p:nvSpPr>
        <p:spPr>
          <a:xfrm>
            <a:off x="6263640" y="1508760"/>
            <a:ext cx="5394960" cy="2377440"/>
          </a:xfrm>
          <a:prstGeom prst="roundRect">
            <a:avLst>
              <a:gd name="adj" fmla="val 4615"/>
            </a:avLst>
          </a:prstGeom>
          <a:solidFill>
            <a:srgbClr val="0C1410"/>
          </a:solidFill>
          <a:ln w="12700">
            <a:solidFill>
              <a:srgbClr val="1C3229"/>
            </a:solidFill>
            <a:prstDash val="solid"/>
          </a:ln>
        </p:spPr>
      </p:sp>
      <p:sp>
        <p:nvSpPr>
          <p:cNvPr id="10" name="Text 8"/>
          <p:cNvSpPr/>
          <p:nvPr/>
        </p:nvSpPr>
        <p:spPr>
          <a:xfrm>
            <a:off x="6537960" y="1691640"/>
            <a:ext cx="4846320" cy="365760"/>
          </a:xfrm>
          <a:prstGeom prst="rect">
            <a:avLst/>
          </a:prstGeom>
          <a:noFill/>
          <a:ln/>
        </p:spPr>
        <p:txBody>
          <a:bodyPr wrap="square" lIns="0" tIns="0" rIns="0" bIns="0" rtlCol="0" anchor="ctr"/>
          <a:lstStyle/>
          <a:p>
            <a:pPr indent="0" marL="0">
              <a:buNone/>
            </a:pPr>
            <a:r>
              <a:rPr lang="en-US" sz="1500" b="1" dirty="0">
                <a:solidFill>
                  <a:srgbClr val="00FFA3"/>
                </a:solidFill>
                <a:latin typeface="Calibri" pitchFamily="34" charset="0"/>
                <a:ea typeface="Calibri" pitchFamily="34" charset="-122"/>
                <a:cs typeface="Calibri" pitchFamily="34" charset="-120"/>
              </a:rPr>
              <a:t>Aligned team incentives</a:t>
            </a:r>
            <a:endParaRPr lang="en-US" sz="1500" dirty="0"/>
          </a:p>
        </p:txBody>
      </p:sp>
      <p:sp>
        <p:nvSpPr>
          <p:cNvPr id="11" name="Text 9"/>
          <p:cNvSpPr/>
          <p:nvPr/>
        </p:nvSpPr>
        <p:spPr>
          <a:xfrm>
            <a:off x="6537960" y="2103120"/>
            <a:ext cx="4846320" cy="16002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7DA395"/>
                </a:solidFill>
                <a:latin typeface="Calibri" pitchFamily="34" charset="0"/>
                <a:ea typeface="Calibri" pitchFamily="34" charset="-122"/>
                <a:cs typeface="Calibri" pitchFamily="34" charset="-120"/>
              </a:rPr>
              <a:t>Founder: $16k/mo salary + milestone bonuses capped at $1M — paid in treasury USDC, zero token sell pressure</a:t>
            </a:r>
            <a:endParaRPr lang="en-US" sz="1250" dirty="0"/>
          </a:p>
          <a:p>
            <a:pPr marL="342900" indent="-342900">
              <a:spcAft>
                <a:spcPts val="800"/>
              </a:spcAft>
              <a:buSzPct val="100000"/>
              <a:buChar char="•"/>
            </a:pPr>
            <a:r>
              <a:rPr lang="en-US" sz="1250" dirty="0">
                <a:solidFill>
                  <a:srgbClr val="7DA395"/>
                </a:solidFill>
                <a:latin typeface="Calibri" pitchFamily="34" charset="0"/>
                <a:ea typeface="Calibri" pitchFamily="34" charset="-122"/>
                <a:cs typeface="Calibri" pitchFamily="34" charset="-120"/>
              </a:rPr>
              <a:t>Performance tokens (10%) unlock only at 2x / 4x / 8x above ICO price, 18-month vesting</a:t>
            </a:r>
            <a:endParaRPr lang="en-US" sz="1250" dirty="0"/>
          </a:p>
          <a:p>
            <a:pPr marL="342900" indent="-342900">
              <a:spcAft>
                <a:spcPts val="800"/>
              </a:spcAft>
              <a:buSzPct val="100000"/>
              <a:buChar char="•"/>
            </a:pPr>
            <a:r>
              <a:rPr lang="en-US" sz="1250" dirty="0">
                <a:solidFill>
                  <a:srgbClr val="7DA395"/>
                </a:solidFill>
                <a:latin typeface="Calibri" pitchFamily="34" charset="0"/>
                <a:ea typeface="Calibri" pitchFamily="34" charset="-122"/>
                <a:cs typeface="Calibri" pitchFamily="34" charset="-120"/>
              </a:rPr>
              <a:t>Every treasury spend requires market approval — funds cannot be drained</a:t>
            </a:r>
            <a:endParaRPr lang="en-US" sz="1250" dirty="0"/>
          </a:p>
        </p:txBody>
      </p:sp>
      <p:sp>
        <p:nvSpPr>
          <p:cNvPr id="12" name="Shape 10"/>
          <p:cNvSpPr/>
          <p:nvPr/>
        </p:nvSpPr>
        <p:spPr>
          <a:xfrm>
            <a:off x="548640" y="4069080"/>
            <a:ext cx="11109960" cy="1920240"/>
          </a:xfrm>
          <a:prstGeom prst="roundRect">
            <a:avLst>
              <a:gd name="adj" fmla="val 5714"/>
            </a:avLst>
          </a:prstGeom>
          <a:solidFill>
            <a:srgbClr val="0C1410"/>
          </a:solidFill>
          <a:ln w="12700">
            <a:solidFill>
              <a:srgbClr val="1C3229"/>
            </a:solidFill>
            <a:prstDash val="solid"/>
          </a:ln>
        </p:spPr>
      </p:sp>
      <p:sp>
        <p:nvSpPr>
          <p:cNvPr id="13" name="Text 11"/>
          <p:cNvSpPr/>
          <p:nvPr/>
        </p:nvSpPr>
        <p:spPr>
          <a:xfrm>
            <a:off x="822960" y="4251960"/>
            <a:ext cx="10561320" cy="365760"/>
          </a:xfrm>
          <a:prstGeom prst="rect">
            <a:avLst/>
          </a:prstGeom>
          <a:noFill/>
          <a:ln/>
        </p:spPr>
        <p:txBody>
          <a:bodyPr wrap="square" lIns="0" tIns="0" rIns="0" bIns="0" rtlCol="0" anchor="ctr"/>
          <a:lstStyle/>
          <a:p>
            <a:pPr indent="0" marL="0">
              <a:buNone/>
            </a:pPr>
            <a:r>
              <a:rPr lang="en-US" sz="1500" b="1" dirty="0">
                <a:solidFill>
                  <a:srgbClr val="00FFA3"/>
                </a:solidFill>
                <a:latin typeface="Calibri" pitchFamily="34" charset="0"/>
                <a:ea typeface="Calibri" pitchFamily="34" charset="-122"/>
                <a:cs typeface="Calibri" pitchFamily="34" charset="-120"/>
              </a:rPr>
              <a:t>Why futarchy fits Passage</a:t>
            </a:r>
            <a:endParaRPr lang="en-US" sz="1500" dirty="0"/>
          </a:p>
        </p:txBody>
      </p:sp>
      <p:sp>
        <p:nvSpPr>
          <p:cNvPr id="14" name="Text 12"/>
          <p:cNvSpPr/>
          <p:nvPr/>
        </p:nvSpPr>
        <p:spPr>
          <a:xfrm>
            <a:off x="822960" y="4663440"/>
            <a:ext cx="10561320" cy="11430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7DA395"/>
                </a:solidFill>
                <a:latin typeface="Calibri" pitchFamily="34" charset="0"/>
                <a:ea typeface="Calibri" pitchFamily="34" charset="-122"/>
                <a:cs typeface="Calibri" pitchFamily="34" charset="-120"/>
              </a:rPr>
              <a:t>Every governance question — add an asset, change a fee, fund a listing — has a measurable impact on protocol revenue</a:t>
            </a:r>
            <a:endParaRPr lang="en-US" sz="1250" dirty="0"/>
          </a:p>
          <a:p>
            <a:pPr marL="342900" indent="-342900">
              <a:spcAft>
                <a:spcPts val="800"/>
              </a:spcAft>
              <a:buSzPct val="100000"/>
              <a:buChar char="•"/>
            </a:pPr>
            <a:r>
              <a:rPr lang="en-US" sz="1250" dirty="0">
                <a:solidFill>
                  <a:srgbClr val="7DA395"/>
                </a:solidFill>
                <a:latin typeface="Calibri" pitchFamily="34" charset="0"/>
                <a:ea typeface="Calibri" pitchFamily="34" charset="-122"/>
                <a:cs typeface="Calibri" pitchFamily="34" charset="-120"/>
              </a:rPr>
              <a:t>Traders with real capital price each decision; cash-flow infrastructure is exactly what decision markets value best</a:t>
            </a:r>
            <a:endParaRPr lang="en-US" sz="1250" dirty="0"/>
          </a:p>
          <a:p>
            <a:pPr marL="342900" indent="-342900">
              <a:spcAft>
                <a:spcPts val="800"/>
              </a:spcAft>
              <a:buSzPct val="100000"/>
              <a:buChar char="•"/>
            </a:pPr>
            <a:r>
              <a:rPr lang="en-US" sz="1250" dirty="0">
                <a:solidFill>
                  <a:srgbClr val="7DA395"/>
                </a:solidFill>
                <a:latin typeface="Calibri" pitchFamily="34" charset="0"/>
                <a:ea typeface="Calibri" pitchFamily="34" charset="-122"/>
                <a:cs typeface="Calibri" pitchFamily="34" charset="-120"/>
              </a:rPr>
              <a:t>MetaDAO launches reward working products with real revenue — Passage arrives with both</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B09"/>
        </a:solidFill>
      </p:bgPr>
    </p:bg>
    <p:spTree>
      <p:nvGrpSpPr>
        <p:cNvPr id="1" name=""/>
        <p:cNvGrpSpPr/>
        <p:nvPr/>
      </p:nvGrpSpPr>
      <p:grpSpPr>
        <a:xfrm>
          <a:off x="0" y="0"/>
          <a:ext cx="0" cy="0"/>
          <a:chOff x="0" y="0"/>
          <a:chExt cx="0" cy="0"/>
        </a:xfrm>
      </p:grpSpPr>
      <p:sp>
        <p:nvSpPr>
          <p:cNvPr id="2" name="Text 0"/>
          <p:cNvSpPr/>
          <p:nvPr/>
        </p:nvSpPr>
        <p:spPr>
          <a:xfrm>
            <a:off x="457200" y="6446520"/>
            <a:ext cx="1828800" cy="274320"/>
          </a:xfrm>
          <a:prstGeom prst="rect">
            <a:avLst/>
          </a:prstGeom>
          <a:noFill/>
          <a:ln/>
        </p:spPr>
        <p:txBody>
          <a:bodyPr wrap="square" lIns="0" tIns="0" rIns="0" bIns="0" rtlCol="0" anchor="ctr"/>
          <a:lstStyle/>
          <a:p>
            <a:pPr indent="0" marL="0">
              <a:buNone/>
            </a:pPr>
            <a:r>
              <a:rPr lang="en-US" sz="1000" dirty="0">
                <a:solidFill>
                  <a:srgbClr val="7DA395"/>
                </a:solidFill>
                <a:latin typeface="Calibri" pitchFamily="34" charset="0"/>
                <a:ea typeface="Calibri" pitchFamily="34" charset="-122"/>
                <a:cs typeface="Calibri" pitchFamily="34" charset="-120"/>
              </a:rPr>
              <a:t>passage</a:t>
            </a:r>
            <a:pPr indent="0" marL="0">
              <a:buNone/>
            </a:pPr>
            <a:r>
              <a:rPr lang="en-US" sz="1000" dirty="0">
                <a:solidFill>
                  <a:srgbClr val="00FFA3"/>
                </a:solidFill>
                <a:latin typeface="Calibri" pitchFamily="34" charset="0"/>
                <a:ea typeface="Calibri" pitchFamily="34" charset="-122"/>
                <a:cs typeface="Calibri" pitchFamily="34" charset="-120"/>
              </a:rPr>
              <a:t>.</a:t>
            </a:r>
            <a:endParaRPr lang="en-US" sz="1000" dirty="0"/>
          </a:p>
        </p:txBody>
      </p:sp>
      <p:sp>
        <p:nvSpPr>
          <p:cNvPr id="3" name="Text 1"/>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1000" dirty="0">
                <a:solidFill>
                  <a:srgbClr val="7DA395"/>
                </a:solidFill>
                <a:latin typeface="Calibri" pitchFamily="34" charset="0"/>
                <a:ea typeface="Calibri" pitchFamily="34" charset="-122"/>
                <a:cs typeface="Calibri" pitchFamily="34" charset="-120"/>
              </a:rPr>
              <a:t>8</a:t>
            </a:r>
            <a:endParaRPr lang="en-US" sz="1000" dirty="0"/>
          </a:p>
        </p:txBody>
      </p:sp>
      <p:sp>
        <p:nvSpPr>
          <p:cNvPr id="4" name="Text 2"/>
          <p:cNvSpPr/>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AFFF6"/>
                </a:solidFill>
                <a:latin typeface="Calibri" pitchFamily="34" charset="0"/>
                <a:ea typeface="Calibri" pitchFamily="34" charset="-122"/>
                <a:cs typeface="Calibri" pitchFamily="34" charset="-120"/>
              </a:rPr>
              <a:t>Use of funds</a:t>
            </a:r>
            <a:endParaRPr lang="en-US" sz="3000" dirty="0"/>
          </a:p>
        </p:txBody>
      </p:sp>
      <p:sp>
        <p:nvSpPr>
          <p:cNvPr id="5" name="Text 3"/>
          <p:cNvSpPr/>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7DA395"/>
                </a:solidFill>
                <a:latin typeface="Calibri" pitchFamily="34" charset="0"/>
                <a:ea typeface="Calibri" pitchFamily="34" charset="-122"/>
                <a:cs typeface="Calibri" pitchFamily="34" charset="-120"/>
              </a:rPr>
              <a:t>Pre-approved operating budget — every extra spend needs market approval</a:t>
            </a:r>
            <a:endParaRPr lang="en-US" sz="1400" dirty="0"/>
          </a:p>
        </p:txBody>
      </p:sp>
      <p:graphicFrame>
        <p:nvGraphicFramePr>
          <p:cNvPr id="6" name="Chart 0" descr=""/>
          <p:cNvGraphicFramePr/>
          <p:nvPr/>
        </p:nvGraphicFramePr>
        <p:xfrm>
          <a:off x="548640" y="146304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589520" y="1463040"/>
            <a:ext cx="4023360" cy="4480560"/>
          </a:xfrm>
          <a:prstGeom prst="roundRect">
            <a:avLst>
              <a:gd name="adj" fmla="val 2727"/>
            </a:avLst>
          </a:prstGeom>
          <a:solidFill>
            <a:srgbClr val="0C1410"/>
          </a:solidFill>
          <a:ln w="12700">
            <a:solidFill>
              <a:srgbClr val="1C3229"/>
            </a:solidFill>
            <a:prstDash val="solid"/>
          </a:ln>
        </p:spPr>
      </p:sp>
      <p:sp>
        <p:nvSpPr>
          <p:cNvPr id="8" name="Text 5"/>
          <p:cNvSpPr/>
          <p:nvPr/>
        </p:nvSpPr>
        <p:spPr>
          <a:xfrm>
            <a:off x="7863840" y="1691640"/>
            <a:ext cx="3474720" cy="365760"/>
          </a:xfrm>
          <a:prstGeom prst="rect">
            <a:avLst/>
          </a:prstGeom>
          <a:noFill/>
          <a:ln/>
        </p:spPr>
        <p:txBody>
          <a:bodyPr wrap="square" lIns="0" tIns="0" rIns="0" bIns="0" rtlCol="0" anchor="ctr"/>
          <a:lstStyle/>
          <a:p>
            <a:pPr indent="0" marL="0">
              <a:buNone/>
            </a:pPr>
            <a:r>
              <a:rPr lang="en-US" sz="1600" b="1" dirty="0">
                <a:solidFill>
                  <a:srgbClr val="00FFA3"/>
                </a:solidFill>
                <a:latin typeface="Calibri" pitchFamily="34" charset="0"/>
                <a:ea typeface="Calibri" pitchFamily="34" charset="-122"/>
                <a:cs typeface="Calibri" pitchFamily="34" charset="-120"/>
              </a:rPr>
              <a:t>The math</a:t>
            </a:r>
            <a:endParaRPr lang="en-US" sz="1600" dirty="0"/>
          </a:p>
        </p:txBody>
      </p:sp>
      <p:sp>
        <p:nvSpPr>
          <p:cNvPr id="9" name="Text 6"/>
          <p:cNvSpPr/>
          <p:nvPr/>
        </p:nvSpPr>
        <p:spPr>
          <a:xfrm>
            <a:off x="7863840" y="2148840"/>
            <a:ext cx="3566160" cy="356616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7DA395"/>
                </a:solidFill>
                <a:latin typeface="Calibri" pitchFamily="34" charset="0"/>
                <a:ea typeface="Calibri" pitchFamily="34" charset="-122"/>
                <a:cs typeface="Calibri" pitchFamily="34" charset="-120"/>
              </a:rPr>
              <a:t>~$50k/month operating budget</a:t>
            </a:r>
            <a:endParaRPr lang="en-US" sz="1300" dirty="0"/>
          </a:p>
          <a:p>
            <a:pPr marL="342900" indent="-342900">
              <a:spcAft>
                <a:spcPts val="1000"/>
              </a:spcAft>
              <a:buSzPct val="100000"/>
              <a:buChar char="•"/>
            </a:pPr>
            <a:r>
              <a:rPr lang="en-US" sz="1300" dirty="0">
                <a:solidFill>
                  <a:srgbClr val="7DA395"/>
                </a:solidFill>
                <a:latin typeface="Calibri" pitchFamily="34" charset="0"/>
                <a:ea typeface="Calibri" pitchFamily="34" charset="-122"/>
                <a:cs typeface="Calibri" pitchFamily="34" charset="-120"/>
              </a:rPr>
              <a:t>$165k one-time: audit, legal/MiCA, entity, listings, bug bounty</a:t>
            </a:r>
            <a:endParaRPr lang="en-US" sz="1300" dirty="0"/>
          </a:p>
          <a:p>
            <a:pPr marL="342900" indent="-342900">
              <a:spcAft>
                <a:spcPts val="1000"/>
              </a:spcAft>
              <a:buSzPct val="100000"/>
              <a:buChar char="•"/>
            </a:pPr>
            <a:r>
              <a:rPr lang="en-US" sz="1300" dirty="0">
                <a:solidFill>
                  <a:srgbClr val="7DA395"/>
                </a:solidFill>
                <a:latin typeface="Calibri" pitchFamily="34" charset="0"/>
                <a:ea typeface="Calibri" pitchFamily="34" charset="-122"/>
                <a:cs typeface="Calibri" pitchFamily="34" charset="-120"/>
              </a:rPr>
              <a:t>18 months x $50k + $165k = ~$1.07M</a:t>
            </a:r>
            <a:endParaRPr lang="en-US" sz="1300" dirty="0"/>
          </a:p>
          <a:p>
            <a:pPr marL="342900" indent="-342900">
              <a:spcAft>
                <a:spcPts val="1000"/>
              </a:spcAft>
              <a:buSzPct val="100000"/>
              <a:buChar char="•"/>
            </a:pPr>
            <a:r>
              <a:rPr lang="en-US" sz="1300" dirty="0">
                <a:solidFill>
                  <a:srgbClr val="7DA395"/>
                </a:solidFill>
                <a:latin typeface="Calibri" pitchFamily="34" charset="0"/>
                <a:ea typeface="Calibri" pitchFamily="34" charset="-122"/>
                <a:cs typeface="Calibri" pitchFamily="34" charset="-120"/>
              </a:rPr>
              <a:t>$1.8M raise - 20% to liquidity pools = $1.44M treasury</a:t>
            </a:r>
            <a:endParaRPr lang="en-US" sz="1300" dirty="0"/>
          </a:p>
          <a:p>
            <a:pPr marL="342900" indent="-342900">
              <a:spcAft>
                <a:spcPts val="1000"/>
              </a:spcAft>
              <a:buSzPct val="100000"/>
              <a:buChar char="•"/>
            </a:pPr>
            <a:r>
              <a:rPr lang="en-US" sz="1300" dirty="0">
                <a:solidFill>
                  <a:srgbClr val="00FFA3"/>
                </a:solidFill>
                <a:latin typeface="Calibri" pitchFamily="34" charset="0"/>
                <a:ea typeface="Calibri" pitchFamily="34" charset="-122"/>
                <a:cs typeface="Calibri" pitchFamily="34" charset="-120"/>
              </a:rPr>
              <a:t>~$375k buffer on top of the full budget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B09"/>
        </a:solidFill>
      </p:bgPr>
    </p:bg>
    <p:spTree>
      <p:nvGrpSpPr>
        <p:cNvPr id="1" name=""/>
        <p:cNvGrpSpPr/>
        <p:nvPr/>
      </p:nvGrpSpPr>
      <p:grpSpPr>
        <a:xfrm>
          <a:off x="0" y="0"/>
          <a:ext cx="0" cy="0"/>
          <a:chOff x="0" y="0"/>
          <a:chExt cx="0" cy="0"/>
        </a:xfrm>
      </p:grpSpPr>
      <p:sp>
        <p:nvSpPr>
          <p:cNvPr id="2" name="Text 0"/>
          <p:cNvSpPr/>
          <p:nvPr/>
        </p:nvSpPr>
        <p:spPr>
          <a:xfrm>
            <a:off x="457200" y="6446520"/>
            <a:ext cx="1828800" cy="274320"/>
          </a:xfrm>
          <a:prstGeom prst="rect">
            <a:avLst/>
          </a:prstGeom>
          <a:noFill/>
          <a:ln/>
        </p:spPr>
        <p:txBody>
          <a:bodyPr wrap="square" lIns="0" tIns="0" rIns="0" bIns="0" rtlCol="0" anchor="ctr"/>
          <a:lstStyle/>
          <a:p>
            <a:pPr indent="0" marL="0">
              <a:buNone/>
            </a:pPr>
            <a:r>
              <a:rPr lang="en-US" sz="1000" dirty="0">
                <a:solidFill>
                  <a:srgbClr val="7DA395"/>
                </a:solidFill>
                <a:latin typeface="Calibri" pitchFamily="34" charset="0"/>
                <a:ea typeface="Calibri" pitchFamily="34" charset="-122"/>
                <a:cs typeface="Calibri" pitchFamily="34" charset="-120"/>
              </a:rPr>
              <a:t>passage</a:t>
            </a:r>
            <a:pPr indent="0" marL="0">
              <a:buNone/>
            </a:pPr>
            <a:r>
              <a:rPr lang="en-US" sz="1000" dirty="0">
                <a:solidFill>
                  <a:srgbClr val="00FFA3"/>
                </a:solidFill>
                <a:latin typeface="Calibri" pitchFamily="34" charset="0"/>
                <a:ea typeface="Calibri" pitchFamily="34" charset="-122"/>
                <a:cs typeface="Calibri" pitchFamily="34" charset="-120"/>
              </a:rPr>
              <a:t>.</a:t>
            </a:r>
            <a:endParaRPr lang="en-US" sz="1000" dirty="0"/>
          </a:p>
        </p:txBody>
      </p:sp>
      <p:sp>
        <p:nvSpPr>
          <p:cNvPr id="3" name="Text 1"/>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1000" dirty="0">
                <a:solidFill>
                  <a:srgbClr val="7DA395"/>
                </a:solidFill>
                <a:latin typeface="Calibri" pitchFamily="34" charset="0"/>
                <a:ea typeface="Calibri" pitchFamily="34" charset="-122"/>
                <a:cs typeface="Calibri" pitchFamily="34" charset="-120"/>
              </a:rPr>
              <a:t>9</a:t>
            </a:r>
            <a:endParaRPr lang="en-US" sz="1000" dirty="0"/>
          </a:p>
        </p:txBody>
      </p:sp>
      <p:sp>
        <p:nvSpPr>
          <p:cNvPr id="4" name="Text 2"/>
          <p:cNvSpPr/>
          <p:nvPr/>
        </p:nvSpPr>
        <p:spPr>
          <a:xfrm>
            <a:off x="457200" y="320040"/>
            <a:ext cx="11247120" cy="640080"/>
          </a:xfrm>
          <a:prstGeom prst="rect">
            <a:avLst/>
          </a:prstGeom>
          <a:noFill/>
          <a:ln/>
        </p:spPr>
        <p:txBody>
          <a:bodyPr wrap="square" lIns="0" tIns="0" rIns="0" bIns="0" rtlCol="0" anchor="ctr"/>
          <a:lstStyle/>
          <a:p>
            <a:pPr indent="0" marL="0">
              <a:buNone/>
            </a:pPr>
            <a:r>
              <a:rPr lang="en-US" sz="3000" b="1" dirty="0">
                <a:solidFill>
                  <a:srgbClr val="EAFFF6"/>
                </a:solidFill>
                <a:latin typeface="Calibri" pitchFamily="34" charset="0"/>
                <a:ea typeface="Calibri" pitchFamily="34" charset="-122"/>
                <a:cs typeface="Calibri" pitchFamily="34" charset="-120"/>
              </a:rPr>
              <a:t>Roadmap</a:t>
            </a:r>
            <a:endParaRPr lang="en-US" sz="3000" dirty="0"/>
          </a:p>
        </p:txBody>
      </p:sp>
      <p:sp>
        <p:nvSpPr>
          <p:cNvPr id="5" name="Text 3"/>
          <p:cNvSpPr/>
          <p:nvPr/>
        </p:nvSpPr>
        <p:spPr>
          <a:xfrm>
            <a:off x="457200" y="896112"/>
            <a:ext cx="11247120" cy="365760"/>
          </a:xfrm>
          <a:prstGeom prst="rect">
            <a:avLst/>
          </a:prstGeom>
          <a:noFill/>
          <a:ln/>
        </p:spPr>
        <p:txBody>
          <a:bodyPr wrap="square" lIns="0" tIns="0" rIns="0" bIns="0" rtlCol="0" anchor="ctr"/>
          <a:lstStyle/>
          <a:p>
            <a:pPr indent="0" marL="0">
              <a:buNone/>
            </a:pPr>
            <a:r>
              <a:rPr lang="en-US" sz="1400" dirty="0">
                <a:solidFill>
                  <a:srgbClr val="7DA395"/>
                </a:solidFill>
                <a:latin typeface="Calibri" pitchFamily="34" charset="0"/>
                <a:ea typeface="Calibri" pitchFamily="34" charset="-122"/>
                <a:cs typeface="Calibri" pitchFamily="34" charset="-120"/>
              </a:rPr>
              <a:t>From devnet to the RWA liquidity standard</a:t>
            </a:r>
            <a:endParaRPr lang="en-US" sz="1400" dirty="0"/>
          </a:p>
        </p:txBody>
      </p:sp>
      <p:sp>
        <p:nvSpPr>
          <p:cNvPr id="6" name="Shape 4"/>
          <p:cNvSpPr/>
          <p:nvPr/>
        </p:nvSpPr>
        <p:spPr>
          <a:xfrm>
            <a:off x="548640" y="1737360"/>
            <a:ext cx="2606040" cy="3566160"/>
          </a:xfrm>
          <a:prstGeom prst="roundRect">
            <a:avLst>
              <a:gd name="adj" fmla="val 4211"/>
            </a:avLst>
          </a:prstGeom>
          <a:solidFill>
            <a:srgbClr val="122019"/>
          </a:solidFill>
          <a:ln w="19050">
            <a:solidFill>
              <a:srgbClr val="00FFA3"/>
            </a:solidFill>
            <a:prstDash val="solid"/>
          </a:ln>
        </p:spPr>
      </p:sp>
      <p:sp>
        <p:nvSpPr>
          <p:cNvPr id="7" name="Text 5"/>
          <p:cNvSpPr/>
          <p:nvPr/>
        </p:nvSpPr>
        <p:spPr>
          <a:xfrm>
            <a:off x="777240" y="1965960"/>
            <a:ext cx="2148840" cy="365760"/>
          </a:xfrm>
          <a:prstGeom prst="rect">
            <a:avLst/>
          </a:prstGeom>
          <a:noFill/>
          <a:ln/>
        </p:spPr>
        <p:txBody>
          <a:bodyPr wrap="square" lIns="0" tIns="0" rIns="0" bIns="0" rtlCol="0" anchor="ctr"/>
          <a:lstStyle/>
          <a:p>
            <a:pPr indent="0" marL="0">
              <a:buNone/>
            </a:pPr>
            <a:r>
              <a:rPr lang="en-US" sz="1500" b="1" dirty="0">
                <a:solidFill>
                  <a:srgbClr val="00FFA3"/>
                </a:solidFill>
                <a:latin typeface="Calibri" pitchFamily="34" charset="0"/>
                <a:ea typeface="Calibri" pitchFamily="34" charset="-122"/>
                <a:cs typeface="Calibri" pitchFamily="34" charset="-120"/>
              </a:rPr>
              <a:t>Now</a:t>
            </a:r>
            <a:endParaRPr lang="en-US" sz="1500" dirty="0"/>
          </a:p>
        </p:txBody>
      </p:sp>
      <p:sp>
        <p:nvSpPr>
          <p:cNvPr id="8" name="Text 6"/>
          <p:cNvSpPr/>
          <p:nvPr/>
        </p:nvSpPr>
        <p:spPr>
          <a:xfrm>
            <a:off x="777240" y="2377440"/>
            <a:ext cx="2194560" cy="274320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7DA395"/>
                </a:solidFill>
                <a:latin typeface="Calibri" pitchFamily="34" charset="0"/>
                <a:ea typeface="Calibri" pitchFamily="34" charset="-122"/>
                <a:cs typeface="Calibri" pitchFamily="34" charset="-120"/>
              </a:rPr>
              <a:t>MVP live on devnet</a:t>
            </a:r>
            <a:endParaRPr lang="en-US" sz="1150" dirty="0"/>
          </a:p>
          <a:p>
            <a:pPr marL="342900" indent="-342900">
              <a:spcAft>
                <a:spcPts val="800"/>
              </a:spcAft>
              <a:buSzPct val="100000"/>
              <a:buChar char="•"/>
            </a:pPr>
            <a:r>
              <a:rPr lang="en-US" sz="1150" dirty="0">
                <a:solidFill>
                  <a:srgbClr val="7DA395"/>
                </a:solidFill>
                <a:latin typeface="Calibri" pitchFamily="34" charset="0"/>
                <a:ea typeface="Calibri" pitchFamily="34" charset="-122"/>
                <a:cs typeface="Calibri" pitchFamily="34" charset="-120"/>
              </a:rPr>
              <a:t>4 programs, full test suite</a:t>
            </a:r>
            <a:endParaRPr lang="en-US" sz="1150" dirty="0"/>
          </a:p>
          <a:p>
            <a:pPr marL="342900" indent="-342900">
              <a:spcAft>
                <a:spcPts val="800"/>
              </a:spcAft>
              <a:buSzPct val="100000"/>
              <a:buChar char="•"/>
            </a:pPr>
            <a:r>
              <a:rPr lang="en-US" sz="1150" dirty="0">
                <a:solidFill>
                  <a:srgbClr val="7DA395"/>
                </a:solidFill>
                <a:latin typeface="Calibri" pitchFamily="34" charset="0"/>
                <a:ea typeface="Calibri" pitchFamily="34" charset="-122"/>
                <a:cs typeface="Calibri" pitchFamily="34" charset="-120"/>
              </a:rPr>
              <a:t>Open-source repo + demo</a:t>
            </a:r>
            <a:endParaRPr lang="en-US" sz="1150" dirty="0"/>
          </a:p>
        </p:txBody>
      </p:sp>
      <p:sp>
        <p:nvSpPr>
          <p:cNvPr id="9" name="Shape 7"/>
          <p:cNvSpPr/>
          <p:nvPr/>
        </p:nvSpPr>
        <p:spPr>
          <a:xfrm>
            <a:off x="3429000" y="1737360"/>
            <a:ext cx="2606040" cy="3566160"/>
          </a:xfrm>
          <a:prstGeom prst="roundRect">
            <a:avLst>
              <a:gd name="adj" fmla="val 4211"/>
            </a:avLst>
          </a:prstGeom>
          <a:solidFill>
            <a:srgbClr val="0C1410"/>
          </a:solidFill>
          <a:ln w="12700">
            <a:solidFill>
              <a:srgbClr val="1C3229"/>
            </a:solidFill>
            <a:prstDash val="solid"/>
          </a:ln>
        </p:spPr>
      </p:sp>
      <p:sp>
        <p:nvSpPr>
          <p:cNvPr id="10" name="Text 8"/>
          <p:cNvSpPr/>
          <p:nvPr/>
        </p:nvSpPr>
        <p:spPr>
          <a:xfrm>
            <a:off x="3657600" y="1965960"/>
            <a:ext cx="2148840" cy="365760"/>
          </a:xfrm>
          <a:prstGeom prst="rect">
            <a:avLst/>
          </a:prstGeom>
          <a:noFill/>
          <a:ln/>
        </p:spPr>
        <p:txBody>
          <a:bodyPr wrap="square" lIns="0" tIns="0" rIns="0" bIns="0" rtlCol="0" anchor="ctr"/>
          <a:lstStyle/>
          <a:p>
            <a:pPr indent="0" marL="0">
              <a:buNone/>
            </a:pPr>
            <a:r>
              <a:rPr lang="en-US" sz="1500" b="1" dirty="0">
                <a:solidFill>
                  <a:srgbClr val="EAFFF6"/>
                </a:solidFill>
                <a:latin typeface="Calibri" pitchFamily="34" charset="0"/>
                <a:ea typeface="Calibri" pitchFamily="34" charset="-122"/>
                <a:cs typeface="Calibri" pitchFamily="34" charset="-120"/>
              </a:rPr>
              <a:t>Q+1</a:t>
            </a:r>
            <a:endParaRPr lang="en-US" sz="1500" dirty="0"/>
          </a:p>
        </p:txBody>
      </p:sp>
      <p:sp>
        <p:nvSpPr>
          <p:cNvPr id="11" name="Text 9"/>
          <p:cNvSpPr/>
          <p:nvPr/>
        </p:nvSpPr>
        <p:spPr>
          <a:xfrm>
            <a:off x="3657600" y="2377440"/>
            <a:ext cx="2194560" cy="274320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7DA395"/>
                </a:solidFill>
                <a:latin typeface="Calibri" pitchFamily="34" charset="0"/>
                <a:ea typeface="Calibri" pitchFamily="34" charset="-122"/>
                <a:cs typeface="Calibri" pitchFamily="34" charset="-120"/>
              </a:rPr>
              <a:t>Security audit</a:t>
            </a:r>
            <a:endParaRPr lang="en-US" sz="1150" dirty="0"/>
          </a:p>
          <a:p>
            <a:pPr marL="342900" indent="-342900">
              <a:spcAft>
                <a:spcPts val="800"/>
              </a:spcAft>
              <a:buSzPct val="100000"/>
              <a:buChar char="•"/>
            </a:pPr>
            <a:r>
              <a:rPr lang="en-US" sz="1150" dirty="0">
                <a:solidFill>
                  <a:srgbClr val="7DA395"/>
                </a:solidFill>
                <a:latin typeface="Calibri" pitchFamily="34" charset="0"/>
                <a:ea typeface="Calibri" pitchFamily="34" charset="-122"/>
                <a:cs typeface="Calibri" pitchFamily="34" charset="-120"/>
              </a:rPr>
              <a:t>Mainnet launch</a:t>
            </a:r>
            <a:endParaRPr lang="en-US" sz="1150" dirty="0"/>
          </a:p>
          <a:p>
            <a:pPr marL="342900" indent="-342900">
              <a:spcAft>
                <a:spcPts val="800"/>
              </a:spcAft>
              <a:buSzPct val="100000"/>
              <a:buChar char="•"/>
            </a:pPr>
            <a:r>
              <a:rPr lang="en-US" sz="1150" dirty="0">
                <a:solidFill>
                  <a:srgbClr val="7DA395"/>
                </a:solidFill>
                <a:latin typeface="Calibri" pitchFamily="34" charset="0"/>
                <a:ea typeface="Calibri" pitchFamily="34" charset="-122"/>
                <a:cs typeface="Calibri" pitchFamily="34" charset="-120"/>
              </a:rPr>
              <a:t>First issuer asset live</a:t>
            </a:r>
            <a:endParaRPr lang="en-US" sz="1150" dirty="0"/>
          </a:p>
          <a:p>
            <a:pPr marL="342900" indent="-342900">
              <a:spcAft>
                <a:spcPts val="800"/>
              </a:spcAft>
              <a:buSzPct val="100000"/>
              <a:buChar char="•"/>
            </a:pPr>
            <a:r>
              <a:rPr lang="en-US" sz="1150" dirty="0">
                <a:solidFill>
                  <a:srgbClr val="7DA395"/>
                </a:solidFill>
                <a:latin typeface="Calibri" pitchFamily="34" charset="0"/>
                <a:ea typeface="Calibri" pitchFamily="34" charset="-122"/>
                <a:cs typeface="Calibri" pitchFamily="34" charset="-120"/>
              </a:rPr>
              <a:t>MetaDAO ICO</a:t>
            </a:r>
            <a:endParaRPr lang="en-US" sz="1150" dirty="0"/>
          </a:p>
        </p:txBody>
      </p:sp>
      <p:sp>
        <p:nvSpPr>
          <p:cNvPr id="12" name="Shape 10"/>
          <p:cNvSpPr/>
          <p:nvPr/>
        </p:nvSpPr>
        <p:spPr>
          <a:xfrm>
            <a:off x="6309360" y="1737360"/>
            <a:ext cx="2606040" cy="3566160"/>
          </a:xfrm>
          <a:prstGeom prst="roundRect">
            <a:avLst>
              <a:gd name="adj" fmla="val 4211"/>
            </a:avLst>
          </a:prstGeom>
          <a:solidFill>
            <a:srgbClr val="0C1410"/>
          </a:solidFill>
          <a:ln w="12700">
            <a:solidFill>
              <a:srgbClr val="1C3229"/>
            </a:solidFill>
            <a:prstDash val="solid"/>
          </a:ln>
        </p:spPr>
      </p:sp>
      <p:sp>
        <p:nvSpPr>
          <p:cNvPr id="13" name="Text 11"/>
          <p:cNvSpPr/>
          <p:nvPr/>
        </p:nvSpPr>
        <p:spPr>
          <a:xfrm>
            <a:off x="6537960" y="1965960"/>
            <a:ext cx="2148840" cy="365760"/>
          </a:xfrm>
          <a:prstGeom prst="rect">
            <a:avLst/>
          </a:prstGeom>
          <a:noFill/>
          <a:ln/>
        </p:spPr>
        <p:txBody>
          <a:bodyPr wrap="square" lIns="0" tIns="0" rIns="0" bIns="0" rtlCol="0" anchor="ctr"/>
          <a:lstStyle/>
          <a:p>
            <a:pPr indent="0" marL="0">
              <a:buNone/>
            </a:pPr>
            <a:r>
              <a:rPr lang="en-US" sz="1500" b="1" dirty="0">
                <a:solidFill>
                  <a:srgbClr val="EAFFF6"/>
                </a:solidFill>
                <a:latin typeface="Calibri" pitchFamily="34" charset="0"/>
                <a:ea typeface="Calibri" pitchFamily="34" charset="-122"/>
                <a:cs typeface="Calibri" pitchFamily="34" charset="-120"/>
              </a:rPr>
              <a:t>Q+2</a:t>
            </a:r>
            <a:endParaRPr lang="en-US" sz="1500" dirty="0"/>
          </a:p>
        </p:txBody>
      </p:sp>
      <p:sp>
        <p:nvSpPr>
          <p:cNvPr id="14" name="Text 12"/>
          <p:cNvSpPr/>
          <p:nvPr/>
        </p:nvSpPr>
        <p:spPr>
          <a:xfrm>
            <a:off x="6537960" y="2377440"/>
            <a:ext cx="2194560" cy="274320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7DA395"/>
                </a:solidFill>
                <a:latin typeface="Calibri" pitchFamily="34" charset="0"/>
                <a:ea typeface="Calibri" pitchFamily="34" charset="-122"/>
                <a:cs typeface="Calibri" pitchFamily="34" charset="-120"/>
              </a:rPr>
              <a:t>KYC provider integration</a:t>
            </a:r>
            <a:endParaRPr lang="en-US" sz="1150" dirty="0"/>
          </a:p>
          <a:p>
            <a:pPr marL="342900" indent="-342900">
              <a:spcAft>
                <a:spcPts val="800"/>
              </a:spcAft>
              <a:buSzPct val="100000"/>
              <a:buChar char="•"/>
            </a:pPr>
            <a:r>
              <a:rPr lang="en-US" sz="1150" dirty="0">
                <a:solidFill>
                  <a:srgbClr val="7DA395"/>
                </a:solidFill>
                <a:latin typeface="Calibri" pitchFamily="34" charset="0"/>
                <a:ea typeface="Calibri" pitchFamily="34" charset="-122"/>
                <a:cs typeface="Calibri" pitchFamily="34" charset="-120"/>
              </a:rPr>
              <a:t>2–3 assets wrapped</a:t>
            </a:r>
            <a:endParaRPr lang="en-US" sz="1150" dirty="0"/>
          </a:p>
          <a:p>
            <a:pPr marL="342900" indent="-342900">
              <a:spcAft>
                <a:spcPts val="800"/>
              </a:spcAft>
              <a:buSzPct val="100000"/>
              <a:buChar char="•"/>
            </a:pPr>
            <a:r>
              <a:rPr lang="en-US" sz="1150" dirty="0">
                <a:solidFill>
                  <a:srgbClr val="7DA395"/>
                </a:solidFill>
                <a:latin typeface="Calibri" pitchFamily="34" charset="0"/>
                <a:ea typeface="Calibri" pitchFamily="34" charset="-122"/>
                <a:cs typeface="Calibri" pitchFamily="34" charset="-120"/>
              </a:rPr>
              <a:t>pToken/USDC pools live</a:t>
            </a:r>
            <a:endParaRPr lang="en-US" sz="1150" dirty="0"/>
          </a:p>
        </p:txBody>
      </p:sp>
      <p:sp>
        <p:nvSpPr>
          <p:cNvPr id="15" name="Shape 13"/>
          <p:cNvSpPr/>
          <p:nvPr/>
        </p:nvSpPr>
        <p:spPr>
          <a:xfrm>
            <a:off x="9189720" y="1737360"/>
            <a:ext cx="2606040" cy="3566160"/>
          </a:xfrm>
          <a:prstGeom prst="roundRect">
            <a:avLst>
              <a:gd name="adj" fmla="val 4211"/>
            </a:avLst>
          </a:prstGeom>
          <a:solidFill>
            <a:srgbClr val="0C1410"/>
          </a:solidFill>
          <a:ln w="12700">
            <a:solidFill>
              <a:srgbClr val="1C3229"/>
            </a:solidFill>
            <a:prstDash val="solid"/>
          </a:ln>
        </p:spPr>
      </p:sp>
      <p:sp>
        <p:nvSpPr>
          <p:cNvPr id="16" name="Text 14"/>
          <p:cNvSpPr/>
          <p:nvPr/>
        </p:nvSpPr>
        <p:spPr>
          <a:xfrm>
            <a:off x="9418320" y="1965960"/>
            <a:ext cx="2148840" cy="365760"/>
          </a:xfrm>
          <a:prstGeom prst="rect">
            <a:avLst/>
          </a:prstGeom>
          <a:noFill/>
          <a:ln/>
        </p:spPr>
        <p:txBody>
          <a:bodyPr wrap="square" lIns="0" tIns="0" rIns="0" bIns="0" rtlCol="0" anchor="ctr"/>
          <a:lstStyle/>
          <a:p>
            <a:pPr indent="0" marL="0">
              <a:buNone/>
            </a:pPr>
            <a:r>
              <a:rPr lang="en-US" sz="1500" b="1" dirty="0">
                <a:solidFill>
                  <a:srgbClr val="EAFFF6"/>
                </a:solidFill>
                <a:latin typeface="Calibri" pitchFamily="34" charset="0"/>
                <a:ea typeface="Calibri" pitchFamily="34" charset="-122"/>
                <a:cs typeface="Calibri" pitchFamily="34" charset="-120"/>
              </a:rPr>
              <a:t>Q+3/4</a:t>
            </a:r>
            <a:endParaRPr lang="en-US" sz="1500" dirty="0"/>
          </a:p>
        </p:txBody>
      </p:sp>
      <p:sp>
        <p:nvSpPr>
          <p:cNvPr id="17" name="Text 15"/>
          <p:cNvSpPr/>
          <p:nvPr/>
        </p:nvSpPr>
        <p:spPr>
          <a:xfrm>
            <a:off x="9418320" y="2377440"/>
            <a:ext cx="2194560" cy="274320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7DA395"/>
                </a:solidFill>
                <a:latin typeface="Calibri" pitchFamily="34" charset="0"/>
                <a:ea typeface="Calibri" pitchFamily="34" charset="-122"/>
                <a:cs typeface="Calibri" pitchFamily="34" charset="-120"/>
              </a:rPr>
              <a:t>Lending collateral integrations</a:t>
            </a:r>
            <a:endParaRPr lang="en-US" sz="1150" dirty="0"/>
          </a:p>
          <a:p>
            <a:pPr marL="342900" indent="-342900">
              <a:spcAft>
                <a:spcPts val="800"/>
              </a:spcAft>
              <a:buSzPct val="100000"/>
              <a:buChar char="•"/>
            </a:pPr>
            <a:r>
              <a:rPr lang="en-US" sz="1150" dirty="0">
                <a:solidFill>
                  <a:srgbClr val="7DA395"/>
                </a:solidFill>
                <a:latin typeface="Calibri" pitchFamily="34" charset="0"/>
                <a:ea typeface="Calibri" pitchFamily="34" charset="-122"/>
                <a:cs typeface="Calibri" pitchFamily="34" charset="-120"/>
              </a:rPr>
              <a:t>$5M+ Total Value Wrapped</a:t>
            </a:r>
            <a:endParaRPr lang="en-US" sz="1150" dirty="0"/>
          </a:p>
          <a:p>
            <a:pPr marL="342900" indent="-342900">
              <a:spcAft>
                <a:spcPts val="800"/>
              </a:spcAft>
              <a:buSzPct val="100000"/>
              <a:buChar char="•"/>
            </a:pPr>
            <a:r>
              <a:rPr lang="en-US" sz="1150" dirty="0">
                <a:solidFill>
                  <a:srgbClr val="7DA395"/>
                </a:solidFill>
                <a:latin typeface="Calibri" pitchFamily="34" charset="0"/>
                <a:ea typeface="Calibri" pitchFamily="34" charset="-122"/>
                <a:cs typeface="Calibri" pitchFamily="34" charset="-120"/>
              </a:rPr>
              <a:t>zk-credentials</a:t>
            </a:r>
            <a:endParaRPr lang="en-US" sz="1150" dirty="0"/>
          </a:p>
          <a:p>
            <a:pPr marL="342900" indent="-342900">
              <a:spcAft>
                <a:spcPts val="800"/>
              </a:spcAft>
              <a:buSzPct val="100000"/>
              <a:buChar char="•"/>
            </a:pPr>
            <a:r>
              <a:rPr lang="en-US" sz="1150" dirty="0">
                <a:solidFill>
                  <a:srgbClr val="7DA395"/>
                </a:solidFill>
                <a:latin typeface="Calibri" pitchFamily="34" charset="0"/>
                <a:ea typeface="Calibri" pitchFamily="34" charset="-122"/>
                <a:cs typeface="Calibri" pitchFamily="34" charset="-120"/>
              </a:rPr>
              <a:t>CEX conversations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B09"/>
        </a:solidFill>
      </p:bgPr>
    </p:bg>
    <p:spTree>
      <p:nvGrpSpPr>
        <p:cNvPr id="1" name=""/>
        <p:cNvGrpSpPr/>
        <p:nvPr/>
      </p:nvGrpSpPr>
      <p:grpSpPr>
        <a:xfrm>
          <a:off x="0" y="0"/>
          <a:ext cx="0" cy="0"/>
          <a:chOff x="0" y="0"/>
          <a:chExt cx="0" cy="0"/>
        </a:xfrm>
      </p:grpSpPr>
      <p:sp>
        <p:nvSpPr>
          <p:cNvPr id="2" name="Text 0"/>
          <p:cNvSpPr/>
          <p:nvPr/>
        </p:nvSpPr>
        <p:spPr>
          <a:xfrm>
            <a:off x="457200" y="6446520"/>
            <a:ext cx="1828800" cy="274320"/>
          </a:xfrm>
          <a:prstGeom prst="rect">
            <a:avLst/>
          </a:prstGeom>
          <a:noFill/>
          <a:ln/>
        </p:spPr>
        <p:txBody>
          <a:bodyPr wrap="square" lIns="0" tIns="0" rIns="0" bIns="0" rtlCol="0" anchor="ctr"/>
          <a:lstStyle/>
          <a:p>
            <a:pPr indent="0" marL="0">
              <a:buNone/>
            </a:pPr>
            <a:r>
              <a:rPr lang="en-US" sz="1000" dirty="0">
                <a:solidFill>
                  <a:srgbClr val="7DA395"/>
                </a:solidFill>
                <a:latin typeface="Calibri" pitchFamily="34" charset="0"/>
                <a:ea typeface="Calibri" pitchFamily="34" charset="-122"/>
                <a:cs typeface="Calibri" pitchFamily="34" charset="-120"/>
              </a:rPr>
              <a:t>passage</a:t>
            </a:r>
            <a:pPr indent="0" marL="0">
              <a:buNone/>
            </a:pPr>
            <a:r>
              <a:rPr lang="en-US" sz="1000" dirty="0">
                <a:solidFill>
                  <a:srgbClr val="00FFA3"/>
                </a:solidFill>
                <a:latin typeface="Calibri" pitchFamily="34" charset="0"/>
                <a:ea typeface="Calibri" pitchFamily="34" charset="-122"/>
                <a:cs typeface="Calibri" pitchFamily="34" charset="-120"/>
              </a:rPr>
              <a:t>.</a:t>
            </a:r>
            <a:endParaRPr lang="en-US" sz="1000" dirty="0"/>
          </a:p>
        </p:txBody>
      </p:sp>
      <p:sp>
        <p:nvSpPr>
          <p:cNvPr id="3" name="Text 1"/>
          <p:cNvSpPr/>
          <p:nvPr/>
        </p:nvSpPr>
        <p:spPr>
          <a:xfrm>
            <a:off x="11521440" y="6446520"/>
            <a:ext cx="365760" cy="274320"/>
          </a:xfrm>
          <a:prstGeom prst="rect">
            <a:avLst/>
          </a:prstGeom>
          <a:noFill/>
          <a:ln/>
        </p:spPr>
        <p:txBody>
          <a:bodyPr wrap="square" lIns="0" tIns="0" rIns="0" bIns="0" rtlCol="0" anchor="ctr"/>
          <a:lstStyle/>
          <a:p>
            <a:pPr algn="r" indent="0" marL="0">
              <a:buNone/>
            </a:pPr>
            <a:r>
              <a:rPr lang="en-US" sz="1000" dirty="0">
                <a:solidFill>
                  <a:srgbClr val="7DA395"/>
                </a:solidFill>
                <a:latin typeface="Calibri" pitchFamily="34" charset="0"/>
                <a:ea typeface="Calibri" pitchFamily="34" charset="-122"/>
                <a:cs typeface="Calibri" pitchFamily="34" charset="-120"/>
              </a:rPr>
              <a:t>10</a:t>
            </a:r>
            <a:endParaRPr lang="en-US" sz="1000" dirty="0"/>
          </a:p>
        </p:txBody>
      </p:sp>
      <p:sp>
        <p:nvSpPr>
          <p:cNvPr id="4" name="Shape 2"/>
          <p:cNvSpPr/>
          <p:nvPr/>
        </p:nvSpPr>
        <p:spPr>
          <a:xfrm>
            <a:off x="4572000" y="-2560320"/>
            <a:ext cx="3108960" cy="3108960"/>
          </a:xfrm>
          <a:prstGeom prst="ellipse">
            <a:avLst/>
          </a:prstGeom>
          <a:solidFill>
            <a:srgbClr val="0D2A1E">
              <a:alpha val="80000"/>
            </a:srgbClr>
          </a:solidFill>
          <a:ln/>
        </p:spPr>
      </p:sp>
      <p:sp>
        <p:nvSpPr>
          <p:cNvPr id="5" name="Text 3"/>
          <p:cNvSpPr/>
          <p:nvPr/>
        </p:nvSpPr>
        <p:spPr>
          <a:xfrm>
            <a:off x="0" y="1371600"/>
            <a:ext cx="12188952" cy="731520"/>
          </a:xfrm>
          <a:prstGeom prst="rect">
            <a:avLst/>
          </a:prstGeom>
          <a:noFill/>
          <a:ln/>
        </p:spPr>
        <p:txBody>
          <a:bodyPr wrap="square" lIns="0" tIns="0" rIns="0" bIns="0" rtlCol="0" anchor="ctr"/>
          <a:lstStyle/>
          <a:p>
            <a:pPr algn="ctr" indent="0" marL="0">
              <a:buNone/>
            </a:pPr>
            <a:r>
              <a:rPr lang="en-US" sz="4000" b="1" dirty="0">
                <a:solidFill>
                  <a:srgbClr val="EAFFF6"/>
                </a:solidFill>
                <a:latin typeface="Calibri" pitchFamily="34" charset="0"/>
                <a:ea typeface="Calibri" pitchFamily="34" charset="-122"/>
                <a:cs typeface="Calibri" pitchFamily="34" charset="-120"/>
              </a:rPr>
              <a:t>Join the launch</a:t>
            </a:r>
            <a:endParaRPr lang="en-US" sz="4000" dirty="0"/>
          </a:p>
        </p:txBody>
      </p:sp>
      <p:sp>
        <p:nvSpPr>
          <p:cNvPr id="6" name="Text 4"/>
          <p:cNvSpPr/>
          <p:nvPr/>
        </p:nvSpPr>
        <p:spPr>
          <a:xfrm>
            <a:off x="1645920" y="2286000"/>
            <a:ext cx="8869680" cy="548640"/>
          </a:xfrm>
          <a:prstGeom prst="rect">
            <a:avLst/>
          </a:prstGeom>
          <a:noFill/>
          <a:ln/>
        </p:spPr>
        <p:txBody>
          <a:bodyPr wrap="square" lIns="0" tIns="0" rIns="0" bIns="0" rtlCol="0" anchor="ctr"/>
          <a:lstStyle/>
          <a:p>
            <a:pPr algn="ctr" indent="0" marL="0">
              <a:buNone/>
            </a:pPr>
            <a:r>
              <a:rPr lang="en-US" sz="1600" dirty="0">
                <a:solidFill>
                  <a:srgbClr val="7DA395"/>
                </a:solidFill>
                <a:latin typeface="Calibri" pitchFamily="34" charset="0"/>
                <a:ea typeface="Calibri" pitchFamily="34" charset="-122"/>
                <a:cs typeface="Calibri" pitchFamily="34" charset="-120"/>
              </a:rPr>
              <a:t>Passage is raising a minimum of $1.8M via MetaDAO to take the RWA composability layer to mainnet.</a:t>
            </a:r>
            <a:endParaRPr lang="en-US" sz="1600" dirty="0"/>
          </a:p>
        </p:txBody>
      </p:sp>
      <p:sp>
        <p:nvSpPr>
          <p:cNvPr id="7" name="Shape 5"/>
          <p:cNvSpPr/>
          <p:nvPr/>
        </p:nvSpPr>
        <p:spPr>
          <a:xfrm>
            <a:off x="548640" y="3108960"/>
            <a:ext cx="3566160" cy="1554480"/>
          </a:xfrm>
          <a:prstGeom prst="roundRect">
            <a:avLst>
              <a:gd name="adj" fmla="val 7059"/>
            </a:avLst>
          </a:prstGeom>
          <a:solidFill>
            <a:srgbClr val="0C1410"/>
          </a:solidFill>
          <a:ln w="12700">
            <a:solidFill>
              <a:srgbClr val="1C3229"/>
            </a:solidFill>
            <a:prstDash val="solid"/>
          </a:ln>
        </p:spPr>
      </p:sp>
      <p:sp>
        <p:nvSpPr>
          <p:cNvPr id="8" name="Text 6"/>
          <p:cNvSpPr/>
          <p:nvPr/>
        </p:nvSpPr>
        <p:spPr>
          <a:xfrm>
            <a:off x="548640" y="3291840"/>
            <a:ext cx="3566160" cy="640080"/>
          </a:xfrm>
          <a:prstGeom prst="rect">
            <a:avLst/>
          </a:prstGeom>
          <a:noFill/>
          <a:ln/>
        </p:spPr>
        <p:txBody>
          <a:bodyPr wrap="square" lIns="0" tIns="0" rIns="0" bIns="0" rtlCol="0" anchor="ctr"/>
          <a:lstStyle/>
          <a:p>
            <a:pPr algn="ctr" indent="0" marL="0">
              <a:buNone/>
            </a:pPr>
            <a:r>
              <a:rPr lang="en-US" sz="2800" b="1" dirty="0">
                <a:solidFill>
                  <a:srgbClr val="00FFA3"/>
                </a:solidFill>
                <a:latin typeface="Calibri" pitchFamily="34" charset="0"/>
                <a:ea typeface="Calibri" pitchFamily="34" charset="-122"/>
                <a:cs typeface="Calibri" pitchFamily="34" charset="-120"/>
              </a:rPr>
              <a:t>$1.8-4M</a:t>
            </a:r>
            <a:endParaRPr lang="en-US" sz="2800" dirty="0"/>
          </a:p>
        </p:txBody>
      </p:sp>
      <p:sp>
        <p:nvSpPr>
          <p:cNvPr id="9" name="Text 7"/>
          <p:cNvSpPr/>
          <p:nvPr/>
        </p:nvSpPr>
        <p:spPr>
          <a:xfrm>
            <a:off x="777240" y="3977640"/>
            <a:ext cx="3108960" cy="548640"/>
          </a:xfrm>
          <a:prstGeom prst="rect">
            <a:avLst/>
          </a:prstGeom>
          <a:noFill/>
          <a:ln/>
        </p:spPr>
        <p:txBody>
          <a:bodyPr wrap="square" lIns="0" tIns="0" rIns="0" bIns="0" rtlCol="0" anchor="ctr"/>
          <a:lstStyle/>
          <a:p>
            <a:pPr algn="ctr" indent="0" marL="0">
              <a:buNone/>
            </a:pPr>
            <a:r>
              <a:rPr lang="en-US" sz="1200" dirty="0">
                <a:solidFill>
                  <a:srgbClr val="7DA395"/>
                </a:solidFill>
                <a:latin typeface="Calibri" pitchFamily="34" charset="0"/>
                <a:ea typeface="Calibri" pitchFamily="34" charset="-122"/>
                <a:cs typeface="Calibri" pitchFamily="34" charset="-120"/>
              </a:rPr>
              <a:t>min raise to $4M cap: team, audit, legal (MiCA), integrations</a:t>
            </a:r>
            <a:endParaRPr lang="en-US" sz="1200" dirty="0"/>
          </a:p>
        </p:txBody>
      </p:sp>
      <p:sp>
        <p:nvSpPr>
          <p:cNvPr id="10" name="Shape 8"/>
          <p:cNvSpPr/>
          <p:nvPr/>
        </p:nvSpPr>
        <p:spPr>
          <a:xfrm>
            <a:off x="4315968" y="3108960"/>
            <a:ext cx="3566160" cy="1554480"/>
          </a:xfrm>
          <a:prstGeom prst="roundRect">
            <a:avLst>
              <a:gd name="adj" fmla="val 7059"/>
            </a:avLst>
          </a:prstGeom>
          <a:solidFill>
            <a:srgbClr val="0C1410"/>
          </a:solidFill>
          <a:ln w="12700">
            <a:solidFill>
              <a:srgbClr val="1C3229"/>
            </a:solidFill>
            <a:prstDash val="solid"/>
          </a:ln>
        </p:spPr>
      </p:sp>
      <p:sp>
        <p:nvSpPr>
          <p:cNvPr id="11" name="Text 9"/>
          <p:cNvSpPr/>
          <p:nvPr/>
        </p:nvSpPr>
        <p:spPr>
          <a:xfrm>
            <a:off x="4315968" y="3291840"/>
            <a:ext cx="3566160" cy="640080"/>
          </a:xfrm>
          <a:prstGeom prst="rect">
            <a:avLst/>
          </a:prstGeom>
          <a:noFill/>
          <a:ln/>
        </p:spPr>
        <p:txBody>
          <a:bodyPr wrap="square" lIns="0" tIns="0" rIns="0" bIns="0" rtlCol="0" anchor="ctr"/>
          <a:lstStyle/>
          <a:p>
            <a:pPr algn="ctr" indent="0" marL="0">
              <a:buNone/>
            </a:pPr>
            <a:r>
              <a:rPr lang="en-US" sz="2800" b="1" dirty="0">
                <a:solidFill>
                  <a:srgbClr val="00FFA3"/>
                </a:solidFill>
                <a:latin typeface="Calibri" pitchFamily="34" charset="0"/>
                <a:ea typeface="Calibri" pitchFamily="34" charset="-122"/>
                <a:cs typeface="Calibri" pitchFamily="34" charset="-120"/>
              </a:rPr>
              <a:t>10M $PASS</a:t>
            </a:r>
            <a:endParaRPr lang="en-US" sz="2800" dirty="0"/>
          </a:p>
        </p:txBody>
      </p:sp>
      <p:sp>
        <p:nvSpPr>
          <p:cNvPr id="12" name="Text 10"/>
          <p:cNvSpPr/>
          <p:nvPr/>
        </p:nvSpPr>
        <p:spPr>
          <a:xfrm>
            <a:off x="4544568" y="3977640"/>
            <a:ext cx="3108960" cy="548640"/>
          </a:xfrm>
          <a:prstGeom prst="rect">
            <a:avLst/>
          </a:prstGeom>
          <a:noFill/>
          <a:ln/>
        </p:spPr>
        <p:txBody>
          <a:bodyPr wrap="square" lIns="0" tIns="0" rIns="0" bIns="0" rtlCol="0" anchor="ctr"/>
          <a:lstStyle/>
          <a:p>
            <a:pPr algn="ctr" indent="0" marL="0">
              <a:buNone/>
            </a:pPr>
            <a:r>
              <a:rPr lang="en-US" sz="1200" dirty="0">
                <a:solidFill>
                  <a:srgbClr val="7DA395"/>
                </a:solidFill>
                <a:latin typeface="Calibri" pitchFamily="34" charset="0"/>
                <a:ea typeface="Calibri" pitchFamily="34" charset="-122"/>
                <a:cs typeface="Calibri" pitchFamily="34" charset="-120"/>
              </a:rPr>
              <a:t>high float, futarchy-governed treasury</a:t>
            </a:r>
            <a:endParaRPr lang="en-US" sz="1200" dirty="0"/>
          </a:p>
        </p:txBody>
      </p:sp>
      <p:sp>
        <p:nvSpPr>
          <p:cNvPr id="13" name="Shape 11"/>
          <p:cNvSpPr/>
          <p:nvPr/>
        </p:nvSpPr>
        <p:spPr>
          <a:xfrm>
            <a:off x="8083296" y="3108960"/>
            <a:ext cx="3566160" cy="1554480"/>
          </a:xfrm>
          <a:prstGeom prst="roundRect">
            <a:avLst>
              <a:gd name="adj" fmla="val 7059"/>
            </a:avLst>
          </a:prstGeom>
          <a:solidFill>
            <a:srgbClr val="0C1410"/>
          </a:solidFill>
          <a:ln w="12700">
            <a:solidFill>
              <a:srgbClr val="1C3229"/>
            </a:solidFill>
            <a:prstDash val="solid"/>
          </a:ln>
        </p:spPr>
      </p:sp>
      <p:sp>
        <p:nvSpPr>
          <p:cNvPr id="14" name="Text 12"/>
          <p:cNvSpPr/>
          <p:nvPr/>
        </p:nvSpPr>
        <p:spPr>
          <a:xfrm>
            <a:off x="8083296" y="3291840"/>
            <a:ext cx="3566160" cy="640080"/>
          </a:xfrm>
          <a:prstGeom prst="rect">
            <a:avLst/>
          </a:prstGeom>
          <a:noFill/>
          <a:ln/>
        </p:spPr>
        <p:txBody>
          <a:bodyPr wrap="square" lIns="0" tIns="0" rIns="0" bIns="0" rtlCol="0" anchor="ctr"/>
          <a:lstStyle/>
          <a:p>
            <a:pPr algn="ctr" indent="0" marL="0">
              <a:buNone/>
            </a:pPr>
            <a:r>
              <a:rPr lang="en-US" sz="2800" b="1" dirty="0">
                <a:solidFill>
                  <a:srgbClr val="00FFA3"/>
                </a:solidFill>
                <a:latin typeface="Calibri" pitchFamily="34" charset="0"/>
                <a:ea typeface="Calibri" pitchFamily="34" charset="-122"/>
                <a:cs typeface="Calibri" pitchFamily="34" charset="-120"/>
              </a:rPr>
              <a:t>Real yield</a:t>
            </a:r>
            <a:endParaRPr lang="en-US" sz="2800" dirty="0"/>
          </a:p>
        </p:txBody>
      </p:sp>
      <p:sp>
        <p:nvSpPr>
          <p:cNvPr id="15" name="Text 13"/>
          <p:cNvSpPr/>
          <p:nvPr/>
        </p:nvSpPr>
        <p:spPr>
          <a:xfrm>
            <a:off x="8311896" y="3977640"/>
            <a:ext cx="3108960" cy="548640"/>
          </a:xfrm>
          <a:prstGeom prst="rect">
            <a:avLst/>
          </a:prstGeom>
          <a:noFill/>
          <a:ln/>
        </p:spPr>
        <p:txBody>
          <a:bodyPr wrap="square" lIns="0" tIns="0" rIns="0" bIns="0" rtlCol="0" anchor="ctr"/>
          <a:lstStyle/>
          <a:p>
            <a:pPr algn="ctr" indent="0" marL="0">
              <a:buNone/>
            </a:pPr>
            <a:r>
              <a:rPr lang="en-US" sz="1200" dirty="0">
                <a:solidFill>
                  <a:srgbClr val="7DA395"/>
                </a:solidFill>
                <a:latin typeface="Calibri" pitchFamily="34" charset="0"/>
                <a:ea typeface="Calibri" pitchFamily="34" charset="-122"/>
                <a:cs typeface="Calibri" pitchFamily="34" charset="-120"/>
              </a:rPr>
              <a:t>protocol fees from day one of mainnet</a:t>
            </a:r>
            <a:endParaRPr lang="en-US" sz="1200" dirty="0"/>
          </a:p>
        </p:txBody>
      </p:sp>
      <p:sp>
        <p:nvSpPr>
          <p:cNvPr id="16" name="Text 14"/>
          <p:cNvSpPr/>
          <p:nvPr/>
        </p:nvSpPr>
        <p:spPr>
          <a:xfrm>
            <a:off x="0" y="5120640"/>
            <a:ext cx="12188952" cy="365760"/>
          </a:xfrm>
          <a:prstGeom prst="rect">
            <a:avLst/>
          </a:prstGeom>
          <a:noFill/>
          <a:ln/>
        </p:spPr>
        <p:txBody>
          <a:bodyPr wrap="square" lIns="0" tIns="0" rIns="0" bIns="0" rtlCol="0" anchor="ctr"/>
          <a:lstStyle/>
          <a:p>
            <a:pPr algn="ctr" indent="0" marL="0">
              <a:buNone/>
            </a:pPr>
            <a:r>
              <a:rPr lang="en-US" sz="1400" dirty="0">
                <a:solidFill>
                  <a:srgbClr val="00FFA3"/>
                </a:solidFill>
                <a:latin typeface="Calibri" pitchFamily="34" charset="0"/>
                <a:ea typeface="Calibri" pitchFamily="34" charset="-122"/>
                <a:cs typeface="Calibri" pitchFamily="34" charset="-120"/>
              </a:rPr>
              <a:t>github.com/SewnRetirement/passage-protocol</a:t>
            </a:r>
            <a:pPr algn="ctr" indent="0" marL="0">
              <a:buNone/>
            </a:pPr>
            <a:r>
              <a:rPr lang="en-US" sz="1400" dirty="0">
                <a:solidFill>
                  <a:srgbClr val="7DA395"/>
                </a:solidFill>
                <a:latin typeface="Calibri" pitchFamily="34" charset="0"/>
                <a:ea typeface="Calibri" pitchFamily="34" charset="-122"/>
                <a:cs typeface="Calibri" pitchFamily="34" charset="-120"/>
              </a:rPr>
              <a:t>      ·      </a:t>
            </a:r>
            <a:pPr algn="ctr" indent="0" marL="0">
              <a:buNone/>
            </a:pPr>
            <a:r>
              <a:rPr lang="en-US" sz="1400" dirty="0">
                <a:solidFill>
                  <a:srgbClr val="00FFA3"/>
                </a:solidFill>
                <a:latin typeface="Calibri" pitchFamily="34" charset="0"/>
                <a:ea typeface="Calibri" pitchFamily="34" charset="-122"/>
                <a:cs typeface="Calibri" pitchFamily="34" charset="-120"/>
              </a:rPr>
              <a:t>sewnretirement.github.io/passage-protocol</a:t>
            </a:r>
            <a:endParaRPr lang="en-US" sz="1400" dirty="0"/>
          </a:p>
        </p:txBody>
      </p:sp>
      <p:sp>
        <p:nvSpPr>
          <p:cNvPr id="17" name="Text 15"/>
          <p:cNvSpPr/>
          <p:nvPr/>
        </p:nvSpPr>
        <p:spPr>
          <a:xfrm>
            <a:off x="0" y="5760720"/>
            <a:ext cx="12188952" cy="457200"/>
          </a:xfrm>
          <a:prstGeom prst="rect">
            <a:avLst/>
          </a:prstGeom>
          <a:noFill/>
          <a:ln/>
        </p:spPr>
        <p:txBody>
          <a:bodyPr wrap="square" lIns="0" tIns="0" rIns="0" bIns="0" rtlCol="0" anchor="ctr"/>
          <a:lstStyle/>
          <a:p>
            <a:pPr algn="ctr" indent="0" marL="0">
              <a:buNone/>
            </a:pPr>
            <a:r>
              <a:rPr lang="en-US" sz="2200" b="1" dirty="0">
                <a:solidFill>
                  <a:srgbClr val="EAFFF6"/>
                </a:solidFill>
                <a:latin typeface="Calibri" pitchFamily="34" charset="0"/>
                <a:ea typeface="Calibri" pitchFamily="34" charset="-122"/>
                <a:cs typeface="Calibri" pitchFamily="34" charset="-120"/>
              </a:rPr>
              <a:t>passage</a:t>
            </a:r>
            <a:pPr algn="ctr" indent="0" marL="0">
              <a:buNone/>
            </a:pPr>
            <a:r>
              <a:rPr lang="en-US" sz="2200" b="1" dirty="0">
                <a:solidFill>
                  <a:srgbClr val="00FFA3"/>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2026-07-29T18:12:06Z</dcterms:created>
  <dcterms:modified xsi:type="dcterms:W3CDTF">2026-07-29T18:12:06Z</dcterms:modified>
</cp:coreProperties>
</file>